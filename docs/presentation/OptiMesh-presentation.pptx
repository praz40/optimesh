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7" r:id="rId4"/>
    <p:sldId id="258" r:id="rId5"/>
    <p:sldId id="263" r:id="rId6"/>
    <p:sldId id="261" r:id="rId7"/>
    <p:sldId id="268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3E35"/>
    <a:srgbClr val="4F5951"/>
    <a:srgbClr val="657268"/>
    <a:srgbClr val="F7F6EE"/>
    <a:srgbClr val="173C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76E8FC-DECF-44A8-B05C-021CBD38F8F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6D20B0-D0DD-4F78-8CB9-5BD409082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333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ВРЕМЕ: 0:00–0:20 (20 </a:t>
            </a:r>
            <a:r>
              <a:rPr lang="ru-RU" dirty="0" err="1"/>
              <a:t>секунди</a:t>
            </a:r>
            <a:r>
              <a:rPr lang="ru-RU" dirty="0"/>
              <a:t>)</a:t>
            </a:r>
          </a:p>
          <a:p>
            <a:endParaRPr lang="ru-RU" dirty="0"/>
          </a:p>
          <a:p>
            <a:r>
              <a:rPr lang="ru-RU" dirty="0" err="1"/>
              <a:t>Представяме</a:t>
            </a:r>
            <a:r>
              <a:rPr lang="ru-RU" dirty="0"/>
              <a:t> </a:t>
            </a:r>
            <a:r>
              <a:rPr lang="ru-RU" dirty="0" err="1"/>
              <a:t>OptiMesh</a:t>
            </a:r>
            <a:r>
              <a:rPr lang="ru-RU" dirty="0"/>
              <a:t> — система за </a:t>
            </a:r>
            <a:r>
              <a:rPr lang="ru-RU" dirty="0" err="1"/>
              <a:t>по-разумно</a:t>
            </a:r>
            <a:r>
              <a:rPr lang="ru-RU" dirty="0"/>
              <a:t> </a:t>
            </a:r>
            <a:r>
              <a:rPr lang="ru-RU" dirty="0" err="1"/>
              <a:t>използване</a:t>
            </a:r>
            <a:r>
              <a:rPr lang="ru-RU" dirty="0"/>
              <a:t> на </a:t>
            </a:r>
            <a:r>
              <a:rPr lang="ru-RU" dirty="0" err="1"/>
              <a:t>електроенергията</a:t>
            </a:r>
            <a:r>
              <a:rPr lang="ru-RU" dirty="0"/>
              <a:t> у дома и в </a:t>
            </a:r>
            <a:r>
              <a:rPr lang="ru-RU" dirty="0" err="1"/>
              <a:t>професионална</a:t>
            </a:r>
            <a:r>
              <a:rPr lang="ru-RU" dirty="0"/>
              <a:t> среда. </a:t>
            </a:r>
            <a:r>
              <a:rPr lang="ru-RU" dirty="0" err="1"/>
              <a:t>Идеята</a:t>
            </a:r>
            <a:r>
              <a:rPr lang="ru-RU" dirty="0"/>
              <a:t> е проста: </a:t>
            </a:r>
            <a:r>
              <a:rPr lang="ru-RU" dirty="0" err="1"/>
              <a:t>дейността</a:t>
            </a:r>
            <a:r>
              <a:rPr lang="ru-RU" dirty="0"/>
              <a:t> да </a:t>
            </a:r>
            <a:r>
              <a:rPr lang="ru-RU" dirty="0" err="1"/>
              <a:t>бъде</a:t>
            </a:r>
            <a:r>
              <a:rPr lang="ru-RU" dirty="0"/>
              <a:t> готова до </a:t>
            </a:r>
            <a:r>
              <a:rPr lang="ru-RU" dirty="0" err="1"/>
              <a:t>зададен</a:t>
            </a:r>
            <a:r>
              <a:rPr lang="ru-RU" dirty="0"/>
              <a:t> от потребителя час, а </a:t>
            </a:r>
            <a:r>
              <a:rPr lang="ru-RU" dirty="0" err="1"/>
              <a:t>системата</a:t>
            </a:r>
            <a:r>
              <a:rPr lang="ru-RU" dirty="0"/>
              <a:t> да </a:t>
            </a:r>
            <a:r>
              <a:rPr lang="ru-RU" dirty="0" err="1"/>
              <a:t>избере</a:t>
            </a:r>
            <a:r>
              <a:rPr lang="ru-RU" dirty="0"/>
              <a:t> най-</a:t>
            </a:r>
            <a:r>
              <a:rPr lang="ru-RU" dirty="0" err="1"/>
              <a:t>изгодния</a:t>
            </a:r>
            <a:r>
              <a:rPr lang="ru-RU" dirty="0"/>
              <a:t> момент и </a:t>
            </a:r>
            <a:r>
              <a:rPr lang="ru-RU" dirty="0" err="1"/>
              <a:t>източник</a:t>
            </a:r>
            <a:r>
              <a:rPr lang="ru-RU" dirty="0"/>
              <a:t> на </a:t>
            </a:r>
            <a:r>
              <a:rPr lang="ru-RU" dirty="0" err="1"/>
              <a:t>енергия</a:t>
            </a:r>
            <a:r>
              <a:rPr lang="ru-RU" dirty="0"/>
              <a:t>. </a:t>
            </a:r>
            <a:r>
              <a:rPr lang="ru-RU" dirty="0" err="1"/>
              <a:t>Проектът</a:t>
            </a:r>
            <a:r>
              <a:rPr lang="ru-RU" dirty="0"/>
              <a:t> </a:t>
            </a:r>
            <a:r>
              <a:rPr lang="ru-RU" dirty="0" err="1"/>
              <a:t>свързва</a:t>
            </a:r>
            <a:r>
              <a:rPr lang="ru-RU" dirty="0"/>
              <a:t> </a:t>
            </a:r>
            <a:r>
              <a:rPr lang="ru-RU" dirty="0" err="1"/>
              <a:t>хардуер</a:t>
            </a:r>
            <a:r>
              <a:rPr lang="ru-RU" dirty="0"/>
              <a:t>, приложение и </a:t>
            </a:r>
            <a:r>
              <a:rPr lang="ru-RU" dirty="0" err="1"/>
              <a:t>алгоритъм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 err="1"/>
              <a:t>Източник</a:t>
            </a:r>
            <a:r>
              <a:rPr lang="ru-RU" dirty="0"/>
              <a:t>: </a:t>
            </a:r>
            <a:r>
              <a:rPr lang="ru-RU" dirty="0" err="1"/>
              <a:t>OptiMesh</a:t>
            </a:r>
            <a:r>
              <a:rPr lang="ru-RU" dirty="0"/>
              <a:t> Project Documentation.docx, 3 </a:t>
            </a:r>
            <a:r>
              <a:rPr lang="ru-RU" dirty="0" err="1"/>
              <a:t>октомври</a:t>
            </a:r>
            <a:r>
              <a:rPr lang="ru-RU" dirty="0"/>
              <a:t> 2026 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D20B0-D0DD-4F78-8CB9-5BD409082F2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616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ВРЕМЕ: 0:20–0:45 (25 секунди)</a:t>
            </a:r>
          </a:p>
          <a:p>
            <a:endParaRPr lang="ru-RU"/>
          </a:p>
          <a:p>
            <a:r>
              <a:rPr lang="ru-RU"/>
              <a:t>Ние сме отбор „Красна поляна“. Даниел е нашият капитан и ръководи хардуерния дизайн и изпълнението. Стоян е full-stack разработчик и отговаря за базата данни. Йордан създава играта и подготвя документацията. Димитър работи по дизайна, проучването и помага като общ работник. Съчетаваме тези роли, за да свържем физическите устройства с разбираем софтуер.</a:t>
            </a:r>
          </a:p>
          <a:p>
            <a:endParaRPr lang="ru-RU"/>
          </a:p>
          <a:p>
            <a:r>
              <a:rPr lang="ru-RU"/>
              <a:t>Източник: OptiMesh Project Documentation.docx, 3 октомври 2026 г.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D20B0-D0DD-4F78-8CB9-5BD409082F2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6116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C7701-B80D-804E-5B55-28A637C74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08A388-BCC4-DB2B-A7C6-EB7D758595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761DAB-C056-06C1-488E-6950BFC567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ВРЕМЕ: около 45 секунди</a:t>
            </a:r>
          </a:p>
          <a:p>
            <a:endParaRPr lang="ru-RU"/>
          </a:p>
          <a:p>
            <a:r>
              <a:rPr lang="ru-RU"/>
              <a:t>Помислете за момент за собствения си дом: колко често лампата остава включена в празна стая или телевизорът работи, без някой да го гледа? Погледнете изображението — навън има слънце, но осветлението продължава да харчи ток. Тази енергия се плаща, въпреки че не ни носи полза. Разхищението се превръща в загуба на пари за всеки от нас — у дома и на работа. Именно това е проблемът, от който тръгва OptiMesh: да използваме енергията по-разумно и да намалим излишните разходи.</a:t>
            </a:r>
          </a:p>
          <a:p>
            <a:endParaRPr lang="ru-RU"/>
          </a:p>
          <a:p>
            <a:r>
              <a:rPr lang="ru-RU"/>
              <a:t>Илюстрацията е създадена с image_gen и представя проблема концептуално; не показва измерени стойности.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92BA04-B345-AABF-7598-843D355284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D20B0-D0DD-4F78-8CB9-5BD409082F2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379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ВРЕМЕ: 0:45–1:30 (45 секунди)</a:t>
            </a:r>
          </a:p>
          <a:p>
            <a:endParaRPr lang="ru-RU"/>
          </a:p>
          <a:p>
            <a:r>
              <a:rPr lang="ru-RU"/>
              <a:t>В ежедневието често включваме уреда веднага, без да съобразим цената на тока или наличната слънчева енергия. Но много дейности имат краен срок, а не задължителен начален час. Например автомобилът трябва да бъде зареден до осем вечерта. Ако разполагаме с време, можем да изместим зареждането към по-подходящ период. OptiMesh цели да избира между слънчева енергия, мрежа и батерия, като отчита цената, мощността и срока. Графиката показва принципа, а не измерени стойности. Същата идея е приложима за дома, работилницата и офиса.</a:t>
            </a:r>
          </a:p>
          <a:p>
            <a:endParaRPr lang="ru-RU"/>
          </a:p>
          <a:p>
            <a:r>
              <a:rPr lang="ru-RU"/>
              <a:t>Източник: OptiMesh Project Documentation.docx, 3 октомври 2026 г.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D20B0-D0DD-4F78-8CB9-5BD409082F2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7733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ВРЕМЕ: 4:20–5:00 (40 секунди)</a:t>
            </a:r>
          </a:p>
          <a:p>
            <a:endParaRPr lang="ru-RU"/>
          </a:p>
          <a:p>
            <a:r>
              <a:rPr lang="ru-RU"/>
              <a:t>Ето как се затваря цикълът. ESP32 изпраща измерване към Mosquitto на Raspberry Pi. FastAPI приема съобщението, записва го в базата и обновява приложението през WebSocket. При команда посоката се обръща: приложението подава заявка, backend-ът проверява възможностите и ограниченията, а MQTT я доставя до устройството. То отговаря с потвърждение — приложена или отхвърлена. Без това потвърждение командата не се показва като изпълнена. Реалният път за измервания е проверен. Обратният цикъл е проверен със симулатора; управлението на видим товар чрез реалния ESP32 предстои.</a:t>
            </a:r>
          </a:p>
          <a:p>
            <a:endParaRPr lang="ru-RU"/>
          </a:p>
          <a:p>
            <a:r>
              <a:rPr lang="ru-RU"/>
              <a:t>Източник: OptiMesh Project Documentation.docx, 3 октомври 2026 г.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D20B0-D0DD-4F78-8CB9-5BD409082F2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4324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ВРЕМЕ: 2:55–3:40 (45 секунди)</a:t>
            </a:r>
          </a:p>
          <a:p>
            <a:endParaRPr lang="ru-RU"/>
          </a:p>
          <a:p>
            <a:r>
              <a:rPr lang="ru-RU"/>
              <a:t>Уебприложението превръща техническите данни в разбираема картина. В портфолиото виждаме всички обекти и можем да преминем между дом, работилница и офис. За всеки обект интерфейсът показва слънчевата енергия, мрежата, батерията, автомобилите и общото потребление. Има диаграма на енергийните потоци, графика за последните тридесет минути и списък с устройствата. Потребителят може да подаде команда и да проследи нейния статус. „Изпълнено“ се показва след потвърждение от устройството. Приложението показва и липса на връзка или повторно свързване. Тук е оставено място за ваш екран от готовия интерфейс. Прогнози, препоръки и автоматизации са следващо развитие, а не завършени функции.</a:t>
            </a:r>
          </a:p>
          <a:p>
            <a:endParaRPr lang="ru-RU"/>
          </a:p>
          <a:p>
            <a:r>
              <a:rPr lang="ru-RU"/>
              <a:t>Източник: OptiMesh Project Documentation.docx, 3 октомври 2026 г.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D20B0-D0DD-4F78-8CB9-5BD409082F2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3772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/>
              <a:t>ВРЕМЕ: 2:10–2:55 (45 секунди)</a:t>
            </a:r>
          </a:p>
          <a:p>
            <a:endParaRPr lang="bg-BG"/>
          </a:p>
          <a:p>
            <a:r>
              <a:rPr lang="bg-BG"/>
              <a:t>Уебприложението е изградено с </a:t>
            </a:r>
            <a:r>
              <a:rPr lang="en-US"/>
              <a:t>Next.js </a:t>
            </a:r>
            <a:r>
              <a:rPr lang="bg-BG"/>
              <a:t>и </a:t>
            </a:r>
            <a:r>
              <a:rPr lang="en-US"/>
              <a:t>React, </a:t>
            </a:r>
            <a:r>
              <a:rPr lang="bg-BG"/>
              <a:t>написано на </a:t>
            </a:r>
            <a:r>
              <a:rPr lang="en-US"/>
              <a:t>TypeScript </a:t>
            </a:r>
            <a:r>
              <a:rPr lang="bg-BG"/>
              <a:t>и оформено с </a:t>
            </a:r>
            <a:r>
              <a:rPr lang="en-US"/>
              <a:t>Tailwind. Backend-</a:t>
            </a:r>
            <a:r>
              <a:rPr lang="bg-BG"/>
              <a:t>ът използва </a:t>
            </a:r>
            <a:r>
              <a:rPr lang="en-US"/>
              <a:t>Python 3.12 </a:t>
            </a:r>
            <a:r>
              <a:rPr lang="bg-BG"/>
              <a:t>и </a:t>
            </a:r>
            <a:r>
              <a:rPr lang="en-US"/>
              <a:t>FastAPI. </a:t>
            </a:r>
            <a:r>
              <a:rPr lang="bg-BG"/>
              <a:t>Той приема измерванията, проверява командите и обслужва интерфейса. Данните се записват в </a:t>
            </a:r>
            <a:r>
              <a:rPr lang="en-US"/>
              <a:t>PostgreSQL, </a:t>
            </a:r>
            <a:r>
              <a:rPr lang="bg-BG"/>
              <a:t>хостван в </a:t>
            </a:r>
            <a:r>
              <a:rPr lang="en-US"/>
              <a:t>Supabase, </a:t>
            </a:r>
            <a:r>
              <a:rPr lang="bg-BG"/>
              <a:t>чрез </a:t>
            </a:r>
            <a:r>
              <a:rPr lang="en-US"/>
              <a:t>SQLAlchemy </a:t>
            </a:r>
            <a:r>
              <a:rPr lang="bg-BG"/>
              <a:t>и </a:t>
            </a:r>
            <a:r>
              <a:rPr lang="en-US"/>
              <a:t>Psycopg. Alembic </a:t>
            </a:r>
            <a:r>
              <a:rPr lang="bg-BG"/>
              <a:t>управлява структурата на базата. Устройствата общуват чрез </a:t>
            </a:r>
            <a:r>
              <a:rPr lang="en-US"/>
              <a:t>MQTT </a:t>
            </a:r>
            <a:r>
              <a:rPr lang="bg-BG"/>
              <a:t>и </a:t>
            </a:r>
            <a:r>
              <a:rPr lang="en-US"/>
              <a:t>Mosquitto, </a:t>
            </a:r>
            <a:r>
              <a:rPr lang="bg-BG"/>
              <a:t>а приложението използва </a:t>
            </a:r>
            <a:r>
              <a:rPr lang="en-US"/>
              <a:t>REST </a:t>
            </a:r>
            <a:r>
              <a:rPr lang="bg-BG"/>
              <a:t>за заявки и </a:t>
            </a:r>
            <a:r>
              <a:rPr lang="en-US"/>
              <a:t>WebSocket </a:t>
            </a:r>
            <a:r>
              <a:rPr lang="bg-BG"/>
              <a:t>за обновяване в реално време. </a:t>
            </a:r>
            <a:r>
              <a:rPr lang="en-US"/>
              <a:t>Docker, npm </a:t>
            </a:r>
            <a:r>
              <a:rPr lang="bg-BG"/>
              <a:t>и </a:t>
            </a:r>
            <a:r>
              <a:rPr lang="en-US"/>
              <a:t>uv </a:t>
            </a:r>
            <a:r>
              <a:rPr lang="bg-BG"/>
              <a:t>правят средата възпроизводима. Автоматичните проверки в </a:t>
            </a:r>
            <a:r>
              <a:rPr lang="en-US"/>
              <a:t>GitHub </a:t>
            </a:r>
            <a:r>
              <a:rPr lang="bg-BG"/>
              <a:t>използват </a:t>
            </a:r>
            <a:r>
              <a:rPr lang="en-US"/>
              <a:t>Pytest, Vitest </a:t>
            </a:r>
            <a:r>
              <a:rPr lang="bg-BG"/>
              <a:t>и инструменти за качество. </a:t>
            </a:r>
            <a:r>
              <a:rPr lang="en-US"/>
              <a:t>Supabase </a:t>
            </a:r>
            <a:r>
              <a:rPr lang="bg-BG"/>
              <a:t>хоства базата, а не самия </a:t>
            </a:r>
            <a:r>
              <a:rPr lang="en-US"/>
              <a:t>FastAPI backend.</a:t>
            </a:r>
          </a:p>
          <a:p>
            <a:endParaRPr lang="en-US"/>
          </a:p>
          <a:p>
            <a:r>
              <a:rPr lang="bg-BG"/>
              <a:t>Източник: </a:t>
            </a:r>
            <a:r>
              <a:rPr lang="en-US"/>
              <a:t>OptiMesh Project Documentation.docx, 3 </a:t>
            </a:r>
            <a:r>
              <a:rPr lang="bg-BG"/>
              <a:t>октомври 2026 г.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6D20B0-D0DD-4F78-8CB9-5BD409082F2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89304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ВРЕМЕ: 5:00–5:50 (50 </a:t>
            </a:r>
            <a:r>
              <a:rPr lang="ru-RU" dirty="0" err="1"/>
              <a:t>секунди</a:t>
            </a:r>
            <a:r>
              <a:rPr lang="ru-RU" dirty="0"/>
              <a:t>)</a:t>
            </a:r>
          </a:p>
          <a:p>
            <a:endParaRPr lang="ru-RU" dirty="0"/>
          </a:p>
          <a:p>
            <a:r>
              <a:rPr lang="ru-RU" dirty="0"/>
              <a:t>За да покажем </a:t>
            </a:r>
            <a:r>
              <a:rPr lang="ru-RU" dirty="0" err="1"/>
              <a:t>какъв</a:t>
            </a:r>
            <a:r>
              <a:rPr lang="ru-RU" dirty="0"/>
              <a:t> проблем </a:t>
            </a:r>
            <a:r>
              <a:rPr lang="ru-RU" dirty="0" err="1"/>
              <a:t>решава</a:t>
            </a:r>
            <a:r>
              <a:rPr lang="ru-RU" dirty="0"/>
              <a:t> </a:t>
            </a:r>
            <a:r>
              <a:rPr lang="ru-RU" dirty="0" err="1"/>
              <a:t>OptiMesh</a:t>
            </a:r>
            <a:r>
              <a:rPr lang="ru-RU" dirty="0"/>
              <a:t>, </a:t>
            </a:r>
            <a:r>
              <a:rPr lang="ru-RU" dirty="0" err="1"/>
              <a:t>направихме</a:t>
            </a:r>
            <a:r>
              <a:rPr lang="ru-RU" dirty="0"/>
              <a:t> </a:t>
            </a:r>
            <a:r>
              <a:rPr lang="ru-RU" dirty="0" err="1"/>
              <a:t>отделна</a:t>
            </a:r>
            <a:r>
              <a:rPr lang="ru-RU" dirty="0"/>
              <a:t> интерактивна игра. </a:t>
            </a:r>
            <a:r>
              <a:rPr lang="ru-RU" dirty="0" err="1"/>
              <a:t>Играчът</a:t>
            </a:r>
            <a:r>
              <a:rPr lang="ru-RU" dirty="0"/>
              <a:t> </a:t>
            </a:r>
            <a:r>
              <a:rPr lang="ru-RU" dirty="0" err="1"/>
              <a:t>управлява</a:t>
            </a:r>
            <a:r>
              <a:rPr lang="ru-RU" dirty="0"/>
              <a:t> един </a:t>
            </a:r>
            <a:r>
              <a:rPr lang="ru-RU" dirty="0" err="1"/>
              <a:t>офисен</a:t>
            </a:r>
            <a:r>
              <a:rPr lang="ru-RU" dirty="0"/>
              <a:t> ден </a:t>
            </a:r>
            <a:r>
              <a:rPr lang="ru-RU" dirty="0" err="1"/>
              <a:t>със</a:t>
            </a:r>
            <a:r>
              <a:rPr lang="ru-RU" dirty="0"/>
              <a:t> </a:t>
            </a:r>
            <a:r>
              <a:rPr lang="ru-RU" dirty="0" err="1"/>
              <a:t>соларни</a:t>
            </a:r>
            <a:r>
              <a:rPr lang="ru-RU" dirty="0"/>
              <a:t> панели, </a:t>
            </a:r>
            <a:r>
              <a:rPr lang="ru-RU" dirty="0" err="1"/>
              <a:t>батерия</a:t>
            </a:r>
            <a:r>
              <a:rPr lang="ru-RU" dirty="0"/>
              <a:t> от 50 </a:t>
            </a:r>
            <a:r>
              <a:rPr lang="ru-RU" dirty="0" err="1"/>
              <a:t>kWh</a:t>
            </a:r>
            <a:r>
              <a:rPr lang="ru-RU" dirty="0"/>
              <a:t>, </a:t>
            </a:r>
            <a:r>
              <a:rPr lang="ru-RU" dirty="0" err="1"/>
              <a:t>климатик</a:t>
            </a:r>
            <a:r>
              <a:rPr lang="ru-RU" dirty="0"/>
              <a:t>, </a:t>
            </a:r>
            <a:r>
              <a:rPr lang="ru-RU" dirty="0" err="1"/>
              <a:t>гъвкав</a:t>
            </a:r>
            <a:r>
              <a:rPr lang="ru-RU" dirty="0"/>
              <a:t> товар и три </a:t>
            </a:r>
            <a:r>
              <a:rPr lang="ru-RU" dirty="0" err="1"/>
              <a:t>електромобила</a:t>
            </a:r>
            <a:r>
              <a:rPr lang="ru-RU" dirty="0"/>
              <a:t>. </a:t>
            </a:r>
            <a:r>
              <a:rPr lang="ru-RU" dirty="0" err="1"/>
              <a:t>Трябва</a:t>
            </a:r>
            <a:r>
              <a:rPr lang="ru-RU" dirty="0"/>
              <a:t> да следи </a:t>
            </a:r>
            <a:r>
              <a:rPr lang="ru-RU" dirty="0" err="1"/>
              <a:t>цената</a:t>
            </a:r>
            <a:r>
              <a:rPr lang="ru-RU" dirty="0"/>
              <a:t> на </a:t>
            </a:r>
            <a:r>
              <a:rPr lang="ru-RU" dirty="0" err="1"/>
              <a:t>енергията</a:t>
            </a:r>
            <a:r>
              <a:rPr lang="ru-RU" dirty="0"/>
              <a:t>, </a:t>
            </a:r>
            <a:r>
              <a:rPr lang="ru-RU" dirty="0" err="1"/>
              <a:t>часовете</a:t>
            </a:r>
            <a:r>
              <a:rPr lang="ru-RU" dirty="0"/>
              <a:t> на </a:t>
            </a:r>
            <a:r>
              <a:rPr lang="ru-RU" dirty="0" err="1"/>
              <a:t>тръгване</a:t>
            </a:r>
            <a:r>
              <a:rPr lang="ru-RU" dirty="0"/>
              <a:t>, комфорта и </a:t>
            </a:r>
            <a:r>
              <a:rPr lang="ru-RU" dirty="0" err="1"/>
              <a:t>натоварването</a:t>
            </a:r>
            <a:r>
              <a:rPr lang="ru-RU" dirty="0"/>
              <a:t> на </a:t>
            </a:r>
            <a:r>
              <a:rPr lang="ru-RU" dirty="0" err="1"/>
              <a:t>мрежата</a:t>
            </a:r>
            <a:r>
              <a:rPr lang="ru-RU" dirty="0"/>
              <a:t>. По </a:t>
            </a:r>
            <a:r>
              <a:rPr lang="ru-RU" dirty="0" err="1"/>
              <a:t>време</a:t>
            </a:r>
            <a:r>
              <a:rPr lang="ru-RU" dirty="0"/>
              <a:t> на </a:t>
            </a:r>
            <a:r>
              <a:rPr lang="ru-RU" dirty="0" err="1"/>
              <a:t>деня</a:t>
            </a:r>
            <a:r>
              <a:rPr lang="ru-RU" dirty="0"/>
              <a:t> се </a:t>
            </a:r>
            <a:r>
              <a:rPr lang="ru-RU" dirty="0" err="1"/>
              <a:t>появяват</a:t>
            </a:r>
            <a:r>
              <a:rPr lang="ru-RU" dirty="0"/>
              <a:t> </a:t>
            </a:r>
            <a:r>
              <a:rPr lang="ru-RU" dirty="0" err="1"/>
              <a:t>облаци</a:t>
            </a:r>
            <a:r>
              <a:rPr lang="ru-RU" dirty="0"/>
              <a:t>, </a:t>
            </a:r>
            <a:r>
              <a:rPr lang="ru-RU" dirty="0" err="1"/>
              <a:t>замърсяване</a:t>
            </a:r>
            <a:r>
              <a:rPr lang="ru-RU" dirty="0"/>
              <a:t> на </a:t>
            </a:r>
            <a:r>
              <a:rPr lang="ru-RU" dirty="0" err="1"/>
              <a:t>панелите</a:t>
            </a:r>
            <a:r>
              <a:rPr lang="ru-RU" dirty="0"/>
              <a:t> и </a:t>
            </a:r>
            <a:r>
              <a:rPr lang="ru-RU" dirty="0" err="1"/>
              <a:t>промени</a:t>
            </a:r>
            <a:r>
              <a:rPr lang="ru-RU" dirty="0"/>
              <a:t> в </a:t>
            </a:r>
            <a:r>
              <a:rPr lang="ru-RU" dirty="0" err="1"/>
              <a:t>сроковете</a:t>
            </a:r>
            <a:r>
              <a:rPr lang="ru-RU" dirty="0"/>
              <a:t>. </a:t>
            </a:r>
            <a:r>
              <a:rPr lang="ru-RU" dirty="0" err="1"/>
              <a:t>Opti</a:t>
            </a:r>
            <a:r>
              <a:rPr lang="ru-RU" dirty="0"/>
              <a:t> </a:t>
            </a:r>
            <a:r>
              <a:rPr lang="ru-RU" dirty="0" err="1"/>
              <a:t>помага</a:t>
            </a:r>
            <a:r>
              <a:rPr lang="ru-RU" dirty="0"/>
              <a:t> </a:t>
            </a:r>
            <a:r>
              <a:rPr lang="ru-RU" dirty="0" err="1"/>
              <a:t>със</a:t>
            </a:r>
            <a:r>
              <a:rPr lang="ru-RU" dirty="0"/>
              <a:t> </a:t>
            </a:r>
            <a:r>
              <a:rPr lang="ru-RU" dirty="0" err="1"/>
              <a:t>съвети</a:t>
            </a:r>
            <a:r>
              <a:rPr lang="ru-RU" dirty="0"/>
              <a:t> и предупреждения, но </a:t>
            </a:r>
            <a:r>
              <a:rPr lang="ru-RU" dirty="0" err="1"/>
              <a:t>крайното</a:t>
            </a:r>
            <a:r>
              <a:rPr lang="ru-RU" dirty="0"/>
              <a:t> решение </a:t>
            </a:r>
            <a:r>
              <a:rPr lang="ru-RU" dirty="0" err="1"/>
              <a:t>остава</a:t>
            </a:r>
            <a:r>
              <a:rPr lang="ru-RU" dirty="0"/>
              <a:t> на </a:t>
            </a:r>
            <a:r>
              <a:rPr lang="ru-RU" dirty="0" err="1"/>
              <a:t>играча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 err="1"/>
              <a:t>Източник</a:t>
            </a:r>
            <a:r>
              <a:rPr lang="ru-RU" dirty="0"/>
              <a:t>: DGtao13/</a:t>
            </a:r>
            <a:r>
              <a:rPr lang="ru-RU" dirty="0" err="1"/>
              <a:t>OptiMesh</a:t>
            </a:r>
            <a:r>
              <a:rPr lang="ru-RU" dirty="0"/>
              <a:t>-Game — SCENARIO.md и README.md, 3 </a:t>
            </a:r>
            <a:r>
              <a:rPr lang="ru-RU" dirty="0" err="1"/>
              <a:t>октомври</a:t>
            </a:r>
            <a:r>
              <a:rPr lang="ru-RU" dirty="0"/>
              <a:t> 2026 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D20B0-D0DD-4F78-8CB9-5BD409082F2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7147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ВРЕМЕ: 5:50–6:30 (40 секунди)</a:t>
            </a:r>
          </a:p>
          <a:p>
            <a:endParaRPr lang="ru-RU"/>
          </a:p>
          <a:p>
            <a:r>
              <a:rPr lang="ru-RU"/>
              <a:t>В края играта не показва само точки. Същият ден се симулира по три начина — нормална работа без активно планиране, решенията на играча и демонстрационна стратегия на OptiMesh. Сравняваме разхода, пиковото натоварване, зареждането на автомобилите, комфорта, изпълнените задачи и използването на слънчевата енергия. Стойностите не са написани предварително — получават се от самата симулация при едни и същи начални условия. OptiMesh стратегията тук е демонстрационен референтен контролер, а не производственият алгоритъм на системата.</a:t>
            </a:r>
          </a:p>
          <a:p>
            <a:endParaRPr lang="ru-RU"/>
          </a:p>
          <a:p>
            <a:r>
              <a:rPr lang="ru-RU"/>
              <a:t>Източник: DGtao13/OptiMesh-Game — SCENARIO.md и README.md, 3 октомври 2026 г.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D20B0-D0DD-4F78-8CB9-5BD409082F2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4567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ВРЕМЕ: 6:30–7:00 (30 секунди)</a:t>
            </a:r>
          </a:p>
          <a:p>
            <a:endParaRPr lang="ru-RU"/>
          </a:p>
          <a:p>
            <a:r>
              <a:rPr lang="ru-RU"/>
              <a:t>Днес имаме проверен път от реален ESP32 до базата данни, както и разработени dashboard и симулатор. Следващата стъпка е данните да се покажат от реалния хардуер, да затворим обратния команден цикъл и после да свържем оптимизацията с реални устройства. Нашата цел е изборът на енергия да бъде по-разумен, собственото слънце да се използва по-добре и дейностите да приключват навреме. Ние сме „Красна поляна“, а това е OptiMesh. Благодарим!</a:t>
            </a:r>
          </a:p>
          <a:p>
            <a:endParaRPr lang="ru-RU"/>
          </a:p>
          <a:p>
            <a:r>
              <a:rPr lang="ru-RU"/>
              <a:t>Източник: OptiMesh Project Documentation.docx, 3 октомври 2026 г.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D20B0-D0DD-4F78-8CB9-5BD409082F2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536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F7A51-2C02-72E7-64D4-2B231F181D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08EEF7-DBD5-E01E-022A-60C3C34989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D45CE8-14B5-B334-0AD0-2C2971AC0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C1A8D-814E-4FF2-8523-E90616B9133C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E2E7C-FE48-346F-CE79-3C64CE664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C66FE-DB1D-5081-7738-D1D1C0F82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310F9-D508-424C-8248-878EE1E74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088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30D1D-C858-F768-AC0A-D5BE997C7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940B4-EEF7-9742-953B-1395DDF7AD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B7942-6AD6-EA58-BC2F-313526449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C1A8D-814E-4FF2-8523-E90616B9133C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23485-102C-D998-C012-126BC70C2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35053-578B-8754-CD81-84CC63747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310F9-D508-424C-8248-878EE1E74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502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4439C-35AB-F3D8-FD52-5BDA871BF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8AEFDD-083A-3FE0-CC46-84A2BB2F41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5B832E-2FC5-56D1-DBF3-085CDC7D5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C1A8D-814E-4FF2-8523-E90616B9133C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C5BD4-736F-F384-3E7B-C25334B36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4226B-316C-DD41-8F65-C9C9D2E51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310F9-D508-424C-8248-878EE1E74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519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F46DB-E727-7BEF-31E1-450C09E99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2F2DA-0F84-5E76-6F88-447FA3B9D6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D54C51-7873-54F8-89DD-954C6975D5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22DEE2-28FA-D9EA-BA79-916383132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C1A8D-814E-4FF2-8523-E90616B9133C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2AF865-AC6A-19D6-613D-9E4D8801C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9EDFDC-656B-888C-5BA2-5580BAAFE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310F9-D508-424C-8248-878EE1E74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153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9CDE6-683F-B364-3672-F9632B3E2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D392D1-B859-9722-AA17-FF04AD0064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A4A6B9-5A30-3CB9-9ED7-54002325B3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2633DC-84CC-4E25-CCE4-CDF0934D8B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1DB1A7-05CE-05C7-8F41-E215D896BC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E3B1BF-AF6C-FFC7-A392-4A973DF56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C1A8D-814E-4FF2-8523-E90616B9133C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16FC86-5865-2D7B-6E58-69EA2A14D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4DD999-B499-6B9D-4470-612769E97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310F9-D508-424C-8248-878EE1E74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677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64763-4594-773B-5B08-AB05DD8F6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DDD34E-ABFC-B85D-D09E-3E8CA4DD0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C1A8D-814E-4FF2-8523-E90616B9133C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5F7E64-E1EF-7B97-D7CB-CDBBD9DA1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520D66-73E4-D7C0-E406-76280287E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310F9-D508-424C-8248-878EE1E74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049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1B9B22-ACAA-CFD3-B89E-BD138D791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C1A8D-814E-4FF2-8523-E90616B9133C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A5DB93-36A9-C5DA-ED4F-71415C4A9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E5E17-AB29-8951-264A-0E47FEEA9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310F9-D508-424C-8248-878EE1E74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397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BE6D6-9D60-8C64-0BCE-379E0920E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B92C8-3F86-57F9-2474-F927D802E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5CF6C4-1FA6-99AB-C48E-1FFE1C3296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8D5A18-E9C4-B4B8-E89A-4187DAF0E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C1A8D-814E-4FF2-8523-E90616B9133C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4E4554-DEB9-73B0-A05A-1A9B0DA60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D85F2C-D684-3734-E1EA-98218AD49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310F9-D508-424C-8248-878EE1E74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128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CFA25-FA77-0951-7118-3DE8FD224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1D3655-F293-8022-3B74-F0A21BBDC39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42710B-7981-0431-8C2A-75B3EC56C7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FCAF84-EFC0-519E-0BCB-9009F4783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C1A8D-814E-4FF2-8523-E90616B9133C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8BF948-656E-4DE6-985E-C0D340F12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D3EF0E-64DE-5484-7DA2-61D10CFA7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310F9-D508-424C-8248-878EE1E74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02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64908-6375-9A96-E0C9-9EF3A0525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BB383D-CDAA-BCFF-9FF0-B12C24E91D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E2213-35D3-A2AD-958C-D54E559C6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C1A8D-814E-4FF2-8523-E90616B9133C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870FC7-2EDF-7D5D-E4D0-AE9EE90D5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3A9A3-36B6-692A-8955-D664E9FFD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310F9-D508-424C-8248-878EE1E74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917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7F5EDF-CD9A-5A9F-4A00-1F49127507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55C663-F64C-5FF8-9556-99A9703ACA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510D6-B93A-4E81-48C3-89409571D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C1A8D-814E-4FF2-8523-E90616B9133C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8C55B9-9847-7184-2298-F09FCC855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806CA6-9F35-1EEA-6268-EF8E67065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310F9-D508-424C-8248-878EE1E74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00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323A95-8B41-EC1F-679E-63DBCFA1C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87F1AF-AD37-7334-C09A-8D668751F1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C0F8D-A17B-8F1D-3446-7279EB54BB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DC1A8D-814E-4FF2-8523-E90616B9133C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B7D620-5C25-D593-4371-E45C78B30B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3A5A6-A226-1B86-FC09-3650DA051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0310F9-D508-424C-8248-878EE1E74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567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jpe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Line_3">
            <a:extLst>
              <a:ext uri="{FF2B5EF4-FFF2-40B4-BE49-F238E27FC236}">
                <a16:creationId xmlns:a16="http://schemas.microsoft.com/office/drawing/2014/main" id="{41A0F4CC-8477-0D3D-A41E-F982E032A0EB}"/>
              </a:ext>
            </a:extLst>
          </p:cNvPr>
          <p:cNvCxnSpPr/>
          <p:nvPr/>
        </p:nvCxnSpPr>
        <p:spPr>
          <a:xfrm>
            <a:off x="609600" y="6299200"/>
            <a:ext cx="10972800" cy="0"/>
          </a:xfrm>
          <a:prstGeom prst="line">
            <a:avLst/>
          </a:prstGeom>
          <a:ln w="10160">
            <a:solidFill>
              <a:srgbClr val="3458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_4">
            <a:extLst>
              <a:ext uri="{FF2B5EF4-FFF2-40B4-BE49-F238E27FC236}">
                <a16:creationId xmlns:a16="http://schemas.microsoft.com/office/drawing/2014/main" id="{85034C4D-6F5C-0AE8-5FE7-2F2238AD3E50}"/>
              </a:ext>
            </a:extLst>
          </p:cNvPr>
          <p:cNvSpPr txBox="1"/>
          <p:nvPr/>
        </p:nvSpPr>
        <p:spPr>
          <a:xfrm>
            <a:off x="609600" y="6451600"/>
            <a:ext cx="54610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7000"/>
              </a:lnSpc>
            </a:pPr>
            <a:r>
              <a:rPr lang="bg-BG" sz="1000">
                <a:solidFill>
                  <a:srgbClr val="BACD91"/>
                </a:solidFill>
                <a:latin typeface="Segoe UI" panose="020B0502040204020203" pitchFamily="34" charset="0"/>
              </a:rPr>
              <a:t>OPTIMESH  /  КРАСНА ПОЛЯНА</a:t>
            </a:r>
            <a:endParaRPr lang="bg-BG" sz="1000" dirty="0">
              <a:solidFill>
                <a:srgbClr val="BACD91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_6">
            <a:extLst>
              <a:ext uri="{FF2B5EF4-FFF2-40B4-BE49-F238E27FC236}">
                <a16:creationId xmlns:a16="http://schemas.microsoft.com/office/drawing/2014/main" id="{EAE5DF31-7B8F-C9BF-8EE5-6F43F310953F}"/>
              </a:ext>
            </a:extLst>
          </p:cNvPr>
          <p:cNvSpPr txBox="1"/>
          <p:nvPr/>
        </p:nvSpPr>
        <p:spPr>
          <a:xfrm>
            <a:off x="609599" y="1069382"/>
            <a:ext cx="6115707" cy="160655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7000"/>
              </a:lnSpc>
            </a:pPr>
            <a:r>
              <a:rPr lang="bg-BG" sz="9600" b="1" i="1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OptiMesh</a:t>
            </a:r>
            <a:endParaRPr lang="bg-BG" sz="9600" b="1" i="1" dirty="0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Text_7">
            <a:extLst>
              <a:ext uri="{FF2B5EF4-FFF2-40B4-BE49-F238E27FC236}">
                <a16:creationId xmlns:a16="http://schemas.microsoft.com/office/drawing/2014/main" id="{10601BDE-3A89-25CA-10A7-67F80892E375}"/>
              </a:ext>
            </a:extLst>
          </p:cNvPr>
          <p:cNvSpPr txBox="1"/>
          <p:nvPr/>
        </p:nvSpPr>
        <p:spPr>
          <a:xfrm>
            <a:off x="647700" y="3512390"/>
            <a:ext cx="4637532" cy="11070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7000"/>
              </a:lnSpc>
            </a:pPr>
            <a:r>
              <a:rPr lang="bg-BG" sz="3200" b="1" dirty="0">
                <a:solidFill>
                  <a:srgbClr val="BACD91"/>
                </a:solidFill>
                <a:latin typeface="Segoe UI Semibold" panose="020B0702040204020203" pitchFamily="34" charset="0"/>
              </a:rPr>
              <a:t>Евтина енергия. </a:t>
            </a:r>
            <a:br>
              <a:rPr lang="bg-BG" sz="3200" b="1" dirty="0">
                <a:solidFill>
                  <a:srgbClr val="BACD91"/>
                </a:solidFill>
                <a:latin typeface="Segoe UI Semibold" panose="020B0702040204020203" pitchFamily="34" charset="0"/>
              </a:rPr>
            </a:br>
            <a:r>
              <a:rPr lang="bg-BG" sz="3200" b="1" dirty="0">
                <a:solidFill>
                  <a:srgbClr val="BACD91"/>
                </a:solidFill>
                <a:latin typeface="Segoe UI Semibold" panose="020B0702040204020203" pitchFamily="34" charset="0"/>
              </a:rPr>
              <a:t>В точния момент.</a:t>
            </a:r>
          </a:p>
        </p:txBody>
      </p:sp>
      <p:sp>
        <p:nvSpPr>
          <p:cNvPr id="10" name="Vector_9">
            <a:extLst>
              <a:ext uri="{FF2B5EF4-FFF2-40B4-BE49-F238E27FC236}">
                <a16:creationId xmlns:a16="http://schemas.microsoft.com/office/drawing/2014/main" id="{CD5B7A42-D7DA-05CF-CD4A-39E3DA3497C1}"/>
              </a:ext>
            </a:extLst>
          </p:cNvPr>
          <p:cNvSpPr/>
          <p:nvPr/>
        </p:nvSpPr>
        <p:spPr>
          <a:xfrm>
            <a:off x="647700" y="5295900"/>
            <a:ext cx="4953000" cy="355600"/>
          </a:xfrm>
          <a:prstGeom prst="roundRect">
            <a:avLst/>
          </a:prstGeom>
          <a:solidFill>
            <a:srgbClr val="244E4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_10">
            <a:extLst>
              <a:ext uri="{FF2B5EF4-FFF2-40B4-BE49-F238E27FC236}">
                <a16:creationId xmlns:a16="http://schemas.microsoft.com/office/drawing/2014/main" id="{26D8DEE8-5E00-48C4-4AEA-6C3E71E2CD40}"/>
              </a:ext>
            </a:extLst>
          </p:cNvPr>
          <p:cNvSpPr txBox="1"/>
          <p:nvPr/>
        </p:nvSpPr>
        <p:spPr>
          <a:xfrm>
            <a:off x="1164418" y="5400160"/>
            <a:ext cx="3818636" cy="18284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7000"/>
              </a:lnSpc>
            </a:pPr>
            <a:r>
              <a:rPr lang="bg-BG" sz="1100" b="1" dirty="0">
                <a:solidFill>
                  <a:srgbClr val="BACD91"/>
                </a:solidFill>
                <a:latin typeface="Segoe UI Semibold" panose="020B0702040204020203" pitchFamily="34" charset="0"/>
              </a:rPr>
              <a:t>УМНО ПОТРЕБЛЕНИЕ ЗА ДОМА И БИЗНЕСА</a:t>
            </a:r>
            <a:endParaRPr lang="bg-BG" sz="1100" dirty="0">
              <a:solidFill>
                <a:srgbClr val="FFFFFF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107000"/>
              </a:lnSpc>
            </a:pPr>
            <a:endParaRPr lang="bg-BG" sz="1100" b="1" dirty="0">
              <a:solidFill>
                <a:srgbClr val="BACD91"/>
              </a:solidFill>
              <a:latin typeface="Segoe UI Semibold" panose="020B0702040204020203" pitchFamily="34" charset="0"/>
            </a:endParaRPr>
          </a:p>
        </p:txBody>
      </p: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0F67A779-BA6D-8D74-1BDC-FE1615AB4C4B}"/>
              </a:ext>
            </a:extLst>
          </p:cNvPr>
          <p:cNvGrpSpPr/>
          <p:nvPr/>
        </p:nvGrpSpPr>
        <p:grpSpPr>
          <a:xfrm>
            <a:off x="8658860" y="873760"/>
            <a:ext cx="2621280" cy="2445687"/>
            <a:chOff x="8658860" y="873760"/>
            <a:chExt cx="2621280" cy="2445687"/>
          </a:xfrm>
        </p:grpSpPr>
        <p:sp>
          <p:nvSpPr>
            <p:cNvPr id="12" name="Vector_11">
              <a:extLst>
                <a:ext uri="{FF2B5EF4-FFF2-40B4-BE49-F238E27FC236}">
                  <a16:creationId xmlns:a16="http://schemas.microsoft.com/office/drawing/2014/main" id="{0D01B14E-1069-5772-832F-8730573E8EFB}"/>
                </a:ext>
              </a:extLst>
            </p:cNvPr>
            <p:cNvSpPr/>
            <p:nvPr/>
          </p:nvSpPr>
          <p:spPr>
            <a:xfrm>
              <a:off x="8933180" y="1148080"/>
              <a:ext cx="2072640" cy="2072640"/>
            </a:xfrm>
            <a:prstGeom prst="ellipse">
              <a:avLst/>
            </a:prstGeom>
            <a:solidFill>
              <a:srgbClr val="244E4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Vector_12">
              <a:extLst>
                <a:ext uri="{FF2B5EF4-FFF2-40B4-BE49-F238E27FC236}">
                  <a16:creationId xmlns:a16="http://schemas.microsoft.com/office/drawing/2014/main" id="{54C4EF4C-C4BD-68F5-EF92-7AA5DD010B9E}"/>
                </a:ext>
              </a:extLst>
            </p:cNvPr>
            <p:cNvSpPr/>
            <p:nvPr/>
          </p:nvSpPr>
          <p:spPr>
            <a:xfrm>
              <a:off x="9207500" y="1422400"/>
              <a:ext cx="1524000" cy="1524000"/>
            </a:xfrm>
            <a:prstGeom prst="ellipse">
              <a:avLst/>
            </a:prstGeom>
            <a:solidFill>
              <a:srgbClr val="F2C65D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Line_13">
              <a:extLst>
                <a:ext uri="{FF2B5EF4-FFF2-40B4-BE49-F238E27FC236}">
                  <a16:creationId xmlns:a16="http://schemas.microsoft.com/office/drawing/2014/main" id="{6C07F3EB-B649-452C-B176-5DCDBA66DEBD}"/>
                </a:ext>
              </a:extLst>
            </p:cNvPr>
            <p:cNvCxnSpPr/>
            <p:nvPr/>
          </p:nvCxnSpPr>
          <p:spPr>
            <a:xfrm>
              <a:off x="11135360" y="2184400"/>
              <a:ext cx="144780" cy="0"/>
            </a:xfrm>
            <a:prstGeom prst="line">
              <a:avLst/>
            </a:prstGeom>
            <a:ln w="22860">
              <a:solidFill>
                <a:srgbClr val="F2C65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Line_14">
              <a:extLst>
                <a:ext uri="{FF2B5EF4-FFF2-40B4-BE49-F238E27FC236}">
                  <a16:creationId xmlns:a16="http://schemas.microsoft.com/office/drawing/2014/main" id="{E88D316E-F5FC-6034-8882-C70A89B953EC}"/>
                </a:ext>
              </a:extLst>
            </p:cNvPr>
            <p:cNvCxnSpPr/>
            <p:nvPr/>
          </p:nvCxnSpPr>
          <p:spPr>
            <a:xfrm>
              <a:off x="10979165" y="2767330"/>
              <a:ext cx="125383" cy="72390"/>
            </a:xfrm>
            <a:prstGeom prst="line">
              <a:avLst/>
            </a:prstGeom>
            <a:ln w="22860">
              <a:solidFill>
                <a:srgbClr val="F2C65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Line_15">
              <a:extLst>
                <a:ext uri="{FF2B5EF4-FFF2-40B4-BE49-F238E27FC236}">
                  <a16:creationId xmlns:a16="http://schemas.microsoft.com/office/drawing/2014/main" id="{4CAAFD78-EF73-1B4D-06B2-B1AA972656C2}"/>
                </a:ext>
              </a:extLst>
            </p:cNvPr>
            <p:cNvCxnSpPr/>
            <p:nvPr/>
          </p:nvCxnSpPr>
          <p:spPr>
            <a:xfrm>
              <a:off x="10552430" y="3194064"/>
              <a:ext cx="72390" cy="125383"/>
            </a:xfrm>
            <a:prstGeom prst="line">
              <a:avLst/>
            </a:prstGeom>
            <a:ln w="22860">
              <a:solidFill>
                <a:srgbClr val="F2C65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Line_17">
              <a:extLst>
                <a:ext uri="{FF2B5EF4-FFF2-40B4-BE49-F238E27FC236}">
                  <a16:creationId xmlns:a16="http://schemas.microsoft.com/office/drawing/2014/main" id="{57D9C5C4-E607-A9F8-5A94-EE24647A84C5}"/>
                </a:ext>
              </a:extLst>
            </p:cNvPr>
            <p:cNvCxnSpPr/>
            <p:nvPr/>
          </p:nvCxnSpPr>
          <p:spPr>
            <a:xfrm flipH="1">
              <a:off x="9314180" y="3194064"/>
              <a:ext cx="72390" cy="125383"/>
            </a:xfrm>
            <a:prstGeom prst="line">
              <a:avLst/>
            </a:prstGeom>
            <a:ln w="22860">
              <a:solidFill>
                <a:srgbClr val="F2C65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Line_18">
              <a:extLst>
                <a:ext uri="{FF2B5EF4-FFF2-40B4-BE49-F238E27FC236}">
                  <a16:creationId xmlns:a16="http://schemas.microsoft.com/office/drawing/2014/main" id="{F85C7CED-FBA8-5347-C690-05AD657E4CA2}"/>
                </a:ext>
              </a:extLst>
            </p:cNvPr>
            <p:cNvCxnSpPr/>
            <p:nvPr/>
          </p:nvCxnSpPr>
          <p:spPr>
            <a:xfrm flipH="1">
              <a:off x="8834452" y="2767330"/>
              <a:ext cx="125383" cy="72390"/>
            </a:xfrm>
            <a:prstGeom prst="line">
              <a:avLst/>
            </a:prstGeom>
            <a:ln w="22860">
              <a:solidFill>
                <a:srgbClr val="F2C65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Line_19">
              <a:extLst>
                <a:ext uri="{FF2B5EF4-FFF2-40B4-BE49-F238E27FC236}">
                  <a16:creationId xmlns:a16="http://schemas.microsoft.com/office/drawing/2014/main" id="{4490022F-6D7C-3346-F5A4-C4DC66B417DE}"/>
                </a:ext>
              </a:extLst>
            </p:cNvPr>
            <p:cNvCxnSpPr/>
            <p:nvPr/>
          </p:nvCxnSpPr>
          <p:spPr>
            <a:xfrm flipH="1">
              <a:off x="8658860" y="2184400"/>
              <a:ext cx="144780" cy="0"/>
            </a:xfrm>
            <a:prstGeom prst="line">
              <a:avLst/>
            </a:prstGeom>
            <a:ln w="22860">
              <a:solidFill>
                <a:srgbClr val="F2C65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Line_20">
              <a:extLst>
                <a:ext uri="{FF2B5EF4-FFF2-40B4-BE49-F238E27FC236}">
                  <a16:creationId xmlns:a16="http://schemas.microsoft.com/office/drawing/2014/main" id="{7FF0C6BC-7918-DD70-F6F2-AD3C922427DA}"/>
                </a:ext>
              </a:extLst>
            </p:cNvPr>
            <p:cNvCxnSpPr/>
            <p:nvPr/>
          </p:nvCxnSpPr>
          <p:spPr>
            <a:xfrm flipH="1" flipV="1">
              <a:off x="8834452" y="1529080"/>
              <a:ext cx="125383" cy="72390"/>
            </a:xfrm>
            <a:prstGeom prst="line">
              <a:avLst/>
            </a:prstGeom>
            <a:ln w="22860">
              <a:solidFill>
                <a:srgbClr val="F2C65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Line_21">
              <a:extLst>
                <a:ext uri="{FF2B5EF4-FFF2-40B4-BE49-F238E27FC236}">
                  <a16:creationId xmlns:a16="http://schemas.microsoft.com/office/drawing/2014/main" id="{55A14713-C284-0173-67D1-F0DBF3AE1E1B}"/>
                </a:ext>
              </a:extLst>
            </p:cNvPr>
            <p:cNvCxnSpPr/>
            <p:nvPr/>
          </p:nvCxnSpPr>
          <p:spPr>
            <a:xfrm flipH="1" flipV="1">
              <a:off x="9314180" y="1049352"/>
              <a:ext cx="72390" cy="125384"/>
            </a:xfrm>
            <a:prstGeom prst="line">
              <a:avLst/>
            </a:prstGeom>
            <a:ln w="22860">
              <a:solidFill>
                <a:srgbClr val="F2C65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Line_22">
              <a:extLst>
                <a:ext uri="{FF2B5EF4-FFF2-40B4-BE49-F238E27FC236}">
                  <a16:creationId xmlns:a16="http://schemas.microsoft.com/office/drawing/2014/main" id="{89E32C66-BE65-9DDF-87DC-82C6997C0C53}"/>
                </a:ext>
              </a:extLst>
            </p:cNvPr>
            <p:cNvCxnSpPr/>
            <p:nvPr/>
          </p:nvCxnSpPr>
          <p:spPr>
            <a:xfrm flipV="1">
              <a:off x="9969500" y="873760"/>
              <a:ext cx="0" cy="144780"/>
            </a:xfrm>
            <a:prstGeom prst="line">
              <a:avLst/>
            </a:prstGeom>
            <a:ln w="22860">
              <a:solidFill>
                <a:srgbClr val="F2C65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Line_23">
              <a:extLst>
                <a:ext uri="{FF2B5EF4-FFF2-40B4-BE49-F238E27FC236}">
                  <a16:creationId xmlns:a16="http://schemas.microsoft.com/office/drawing/2014/main" id="{F173EBEE-6110-83A7-D4BF-C6A074EDB354}"/>
                </a:ext>
              </a:extLst>
            </p:cNvPr>
            <p:cNvCxnSpPr/>
            <p:nvPr/>
          </p:nvCxnSpPr>
          <p:spPr>
            <a:xfrm flipV="1">
              <a:off x="10552430" y="1049352"/>
              <a:ext cx="72390" cy="125384"/>
            </a:xfrm>
            <a:prstGeom prst="line">
              <a:avLst/>
            </a:prstGeom>
            <a:ln w="22860">
              <a:solidFill>
                <a:srgbClr val="F2C65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Line_24">
              <a:extLst>
                <a:ext uri="{FF2B5EF4-FFF2-40B4-BE49-F238E27FC236}">
                  <a16:creationId xmlns:a16="http://schemas.microsoft.com/office/drawing/2014/main" id="{AAEF209D-76F8-28F8-F4C7-54B968FB0A44}"/>
                </a:ext>
              </a:extLst>
            </p:cNvPr>
            <p:cNvCxnSpPr/>
            <p:nvPr/>
          </p:nvCxnSpPr>
          <p:spPr>
            <a:xfrm flipV="1">
              <a:off x="10979165" y="1529080"/>
              <a:ext cx="125383" cy="72390"/>
            </a:xfrm>
            <a:prstGeom prst="line">
              <a:avLst/>
            </a:prstGeom>
            <a:ln w="22860">
              <a:solidFill>
                <a:srgbClr val="F2C65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02EB3049-6650-92D2-A0D5-D7CEC6A03322}"/>
              </a:ext>
            </a:extLst>
          </p:cNvPr>
          <p:cNvGrpSpPr/>
          <p:nvPr/>
        </p:nvGrpSpPr>
        <p:grpSpPr>
          <a:xfrm>
            <a:off x="6494874" y="3678407"/>
            <a:ext cx="4804537" cy="1986541"/>
            <a:chOff x="8342884" y="4551680"/>
            <a:chExt cx="2859786" cy="1172718"/>
          </a:xfrm>
        </p:grpSpPr>
        <p:sp>
          <p:nvSpPr>
            <p:cNvPr id="144" name="Vector_340">
              <a:extLst>
                <a:ext uri="{FF2B5EF4-FFF2-40B4-BE49-F238E27FC236}">
                  <a16:creationId xmlns:a16="http://schemas.microsoft.com/office/drawing/2014/main" id="{4ADE919B-784D-1217-4B93-F10FB7DAACB6}"/>
                </a:ext>
              </a:extLst>
            </p:cNvPr>
            <p:cNvSpPr/>
            <p:nvPr/>
          </p:nvSpPr>
          <p:spPr>
            <a:xfrm>
              <a:off x="8699500" y="4922012"/>
              <a:ext cx="651510" cy="795528"/>
            </a:xfrm>
            <a:prstGeom prst="rect">
              <a:avLst/>
            </a:prstGeom>
            <a:solidFill>
              <a:srgbClr val="AFC18A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Vector_341">
              <a:extLst>
                <a:ext uri="{FF2B5EF4-FFF2-40B4-BE49-F238E27FC236}">
                  <a16:creationId xmlns:a16="http://schemas.microsoft.com/office/drawing/2014/main" id="{3A8740C4-6499-407A-1DEA-231C7ABDA5C9}"/>
                </a:ext>
              </a:extLst>
            </p:cNvPr>
            <p:cNvSpPr/>
            <p:nvPr/>
          </p:nvSpPr>
          <p:spPr>
            <a:xfrm>
              <a:off x="9488170" y="4551680"/>
              <a:ext cx="624078" cy="1165860"/>
            </a:xfrm>
            <a:prstGeom prst="rect">
              <a:avLst/>
            </a:prstGeom>
            <a:solidFill>
              <a:srgbClr val="4C6E58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6" name="Vector_342">
              <a:extLst>
                <a:ext uri="{FF2B5EF4-FFF2-40B4-BE49-F238E27FC236}">
                  <a16:creationId xmlns:a16="http://schemas.microsoft.com/office/drawing/2014/main" id="{B5687585-0746-FD84-0BAC-EB421A7757EB}"/>
                </a:ext>
              </a:extLst>
            </p:cNvPr>
            <p:cNvSpPr/>
            <p:nvPr/>
          </p:nvSpPr>
          <p:spPr>
            <a:xfrm>
              <a:off x="10228834" y="4812284"/>
              <a:ext cx="644652" cy="905256"/>
            </a:xfrm>
            <a:prstGeom prst="rect">
              <a:avLst/>
            </a:prstGeom>
            <a:solidFill>
              <a:srgbClr val="769165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Vector_343">
              <a:extLst>
                <a:ext uri="{FF2B5EF4-FFF2-40B4-BE49-F238E27FC236}">
                  <a16:creationId xmlns:a16="http://schemas.microsoft.com/office/drawing/2014/main" id="{041B7187-A671-C706-E60F-84F34C5318E4}"/>
                </a:ext>
              </a:extLst>
            </p:cNvPr>
            <p:cNvSpPr/>
            <p:nvPr/>
          </p:nvSpPr>
          <p:spPr>
            <a:xfrm>
              <a:off x="8843518" y="5175758"/>
              <a:ext cx="116586" cy="198882"/>
            </a:xfrm>
            <a:prstGeom prst="rect">
              <a:avLst/>
            </a:prstGeom>
            <a:solidFill>
              <a:srgbClr val="173C3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Vector_344">
              <a:extLst>
                <a:ext uri="{FF2B5EF4-FFF2-40B4-BE49-F238E27FC236}">
                  <a16:creationId xmlns:a16="http://schemas.microsoft.com/office/drawing/2014/main" id="{0C001E50-4A5B-611E-EA09-E0F405A6C8C1}"/>
                </a:ext>
              </a:extLst>
            </p:cNvPr>
            <p:cNvSpPr/>
            <p:nvPr/>
          </p:nvSpPr>
          <p:spPr>
            <a:xfrm>
              <a:off x="9083548" y="5175758"/>
              <a:ext cx="116586" cy="198882"/>
            </a:xfrm>
            <a:prstGeom prst="rect">
              <a:avLst/>
            </a:prstGeom>
            <a:solidFill>
              <a:srgbClr val="173C3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Vector_345">
              <a:extLst>
                <a:ext uri="{FF2B5EF4-FFF2-40B4-BE49-F238E27FC236}">
                  <a16:creationId xmlns:a16="http://schemas.microsoft.com/office/drawing/2014/main" id="{1F0FDCB8-1648-7D8D-8F99-67141909431C}"/>
                </a:ext>
              </a:extLst>
            </p:cNvPr>
            <p:cNvSpPr/>
            <p:nvPr/>
          </p:nvSpPr>
          <p:spPr>
            <a:xfrm>
              <a:off x="8953246" y="5498084"/>
              <a:ext cx="157734" cy="219456"/>
            </a:xfrm>
            <a:prstGeom prst="rect">
              <a:avLst/>
            </a:prstGeom>
            <a:solidFill>
              <a:srgbClr val="173C3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Vector_346">
              <a:extLst>
                <a:ext uri="{FF2B5EF4-FFF2-40B4-BE49-F238E27FC236}">
                  <a16:creationId xmlns:a16="http://schemas.microsoft.com/office/drawing/2014/main" id="{F0CB0764-441D-CB6B-3409-9206DA69C629}"/>
                </a:ext>
              </a:extLst>
            </p:cNvPr>
            <p:cNvSpPr/>
            <p:nvPr/>
          </p:nvSpPr>
          <p:spPr>
            <a:xfrm>
              <a:off x="9611614" y="4723130"/>
              <a:ext cx="109728" cy="116586"/>
            </a:xfrm>
            <a:prstGeom prst="rect">
              <a:avLst/>
            </a:prstGeom>
            <a:solidFill>
              <a:srgbClr val="173C3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Vector_347">
              <a:extLst>
                <a:ext uri="{FF2B5EF4-FFF2-40B4-BE49-F238E27FC236}">
                  <a16:creationId xmlns:a16="http://schemas.microsoft.com/office/drawing/2014/main" id="{C65C7FAD-8E43-C39C-E79A-7E8DDD005D96}"/>
                </a:ext>
              </a:extLst>
            </p:cNvPr>
            <p:cNvSpPr/>
            <p:nvPr/>
          </p:nvSpPr>
          <p:spPr>
            <a:xfrm>
              <a:off x="9851644" y="4723130"/>
              <a:ext cx="109728" cy="116586"/>
            </a:xfrm>
            <a:prstGeom prst="rect">
              <a:avLst/>
            </a:prstGeom>
            <a:solidFill>
              <a:srgbClr val="173C3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Vector_348">
              <a:extLst>
                <a:ext uri="{FF2B5EF4-FFF2-40B4-BE49-F238E27FC236}">
                  <a16:creationId xmlns:a16="http://schemas.microsoft.com/office/drawing/2014/main" id="{06B95453-094F-81DB-22A7-14EB600D0FD4}"/>
                </a:ext>
              </a:extLst>
            </p:cNvPr>
            <p:cNvSpPr/>
            <p:nvPr/>
          </p:nvSpPr>
          <p:spPr>
            <a:xfrm>
              <a:off x="9611614" y="4949444"/>
              <a:ext cx="109728" cy="116586"/>
            </a:xfrm>
            <a:prstGeom prst="rect">
              <a:avLst/>
            </a:prstGeom>
            <a:solidFill>
              <a:srgbClr val="173C3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Vector_349">
              <a:extLst>
                <a:ext uri="{FF2B5EF4-FFF2-40B4-BE49-F238E27FC236}">
                  <a16:creationId xmlns:a16="http://schemas.microsoft.com/office/drawing/2014/main" id="{CA0B7ECA-2092-B140-CC7E-644B44CF700D}"/>
                </a:ext>
              </a:extLst>
            </p:cNvPr>
            <p:cNvSpPr/>
            <p:nvPr/>
          </p:nvSpPr>
          <p:spPr>
            <a:xfrm>
              <a:off x="9851644" y="4949444"/>
              <a:ext cx="109728" cy="116586"/>
            </a:xfrm>
            <a:prstGeom prst="rect">
              <a:avLst/>
            </a:prstGeom>
            <a:solidFill>
              <a:srgbClr val="173C3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Vector_350">
              <a:extLst>
                <a:ext uri="{FF2B5EF4-FFF2-40B4-BE49-F238E27FC236}">
                  <a16:creationId xmlns:a16="http://schemas.microsoft.com/office/drawing/2014/main" id="{EF1BB014-7A38-7257-0538-B2623C1AA4C3}"/>
                </a:ext>
              </a:extLst>
            </p:cNvPr>
            <p:cNvSpPr/>
            <p:nvPr/>
          </p:nvSpPr>
          <p:spPr>
            <a:xfrm>
              <a:off x="9611614" y="5175758"/>
              <a:ext cx="109728" cy="116586"/>
            </a:xfrm>
            <a:prstGeom prst="rect">
              <a:avLst/>
            </a:prstGeom>
            <a:solidFill>
              <a:srgbClr val="173C3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Vector_351">
              <a:extLst>
                <a:ext uri="{FF2B5EF4-FFF2-40B4-BE49-F238E27FC236}">
                  <a16:creationId xmlns:a16="http://schemas.microsoft.com/office/drawing/2014/main" id="{0F5EC14E-67FA-1AA0-F960-A1E4ABA91B60}"/>
                </a:ext>
              </a:extLst>
            </p:cNvPr>
            <p:cNvSpPr/>
            <p:nvPr/>
          </p:nvSpPr>
          <p:spPr>
            <a:xfrm>
              <a:off x="9851644" y="5175758"/>
              <a:ext cx="109728" cy="116586"/>
            </a:xfrm>
            <a:prstGeom prst="rect">
              <a:avLst/>
            </a:prstGeom>
            <a:solidFill>
              <a:srgbClr val="173C3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Vector_352">
              <a:extLst>
                <a:ext uri="{FF2B5EF4-FFF2-40B4-BE49-F238E27FC236}">
                  <a16:creationId xmlns:a16="http://schemas.microsoft.com/office/drawing/2014/main" id="{77857A64-CCF8-8731-D405-43702EF57224}"/>
                </a:ext>
              </a:extLst>
            </p:cNvPr>
            <p:cNvSpPr/>
            <p:nvPr/>
          </p:nvSpPr>
          <p:spPr>
            <a:xfrm>
              <a:off x="9611614" y="5402072"/>
              <a:ext cx="109728" cy="116586"/>
            </a:xfrm>
            <a:prstGeom prst="rect">
              <a:avLst/>
            </a:prstGeom>
            <a:solidFill>
              <a:srgbClr val="173C3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Vector_353">
              <a:extLst>
                <a:ext uri="{FF2B5EF4-FFF2-40B4-BE49-F238E27FC236}">
                  <a16:creationId xmlns:a16="http://schemas.microsoft.com/office/drawing/2014/main" id="{3B195DC7-5F23-1EAA-27B9-B9E68AAC56A9}"/>
                </a:ext>
              </a:extLst>
            </p:cNvPr>
            <p:cNvSpPr/>
            <p:nvPr/>
          </p:nvSpPr>
          <p:spPr>
            <a:xfrm>
              <a:off x="9851644" y="5402072"/>
              <a:ext cx="109728" cy="116586"/>
            </a:xfrm>
            <a:prstGeom prst="rect">
              <a:avLst/>
            </a:prstGeom>
            <a:solidFill>
              <a:srgbClr val="173C3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Vector_354">
              <a:extLst>
                <a:ext uri="{FF2B5EF4-FFF2-40B4-BE49-F238E27FC236}">
                  <a16:creationId xmlns:a16="http://schemas.microsoft.com/office/drawing/2014/main" id="{12C04E9A-4E36-F679-A22E-00F955BDAA21}"/>
                </a:ext>
              </a:extLst>
            </p:cNvPr>
            <p:cNvSpPr/>
            <p:nvPr/>
          </p:nvSpPr>
          <p:spPr>
            <a:xfrm>
              <a:off x="10345420" y="4990592"/>
              <a:ext cx="109728" cy="116586"/>
            </a:xfrm>
            <a:prstGeom prst="rect">
              <a:avLst/>
            </a:prstGeom>
            <a:solidFill>
              <a:srgbClr val="173C3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Vector_355">
              <a:extLst>
                <a:ext uri="{FF2B5EF4-FFF2-40B4-BE49-F238E27FC236}">
                  <a16:creationId xmlns:a16="http://schemas.microsoft.com/office/drawing/2014/main" id="{476EB04D-61E4-DF59-CAA7-80B022F24312}"/>
                </a:ext>
              </a:extLst>
            </p:cNvPr>
            <p:cNvSpPr/>
            <p:nvPr/>
          </p:nvSpPr>
          <p:spPr>
            <a:xfrm>
              <a:off x="10585450" y="4990592"/>
              <a:ext cx="109728" cy="116586"/>
            </a:xfrm>
            <a:prstGeom prst="rect">
              <a:avLst/>
            </a:prstGeom>
            <a:solidFill>
              <a:srgbClr val="173C3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Vector_356">
              <a:extLst>
                <a:ext uri="{FF2B5EF4-FFF2-40B4-BE49-F238E27FC236}">
                  <a16:creationId xmlns:a16="http://schemas.microsoft.com/office/drawing/2014/main" id="{0EF13853-DDD0-EED2-5362-43E2AED1FD70}"/>
                </a:ext>
              </a:extLst>
            </p:cNvPr>
            <p:cNvSpPr/>
            <p:nvPr/>
          </p:nvSpPr>
          <p:spPr>
            <a:xfrm>
              <a:off x="10345420" y="5216906"/>
              <a:ext cx="109728" cy="116586"/>
            </a:xfrm>
            <a:prstGeom prst="rect">
              <a:avLst/>
            </a:prstGeom>
            <a:solidFill>
              <a:srgbClr val="173C3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Vector_357">
              <a:extLst>
                <a:ext uri="{FF2B5EF4-FFF2-40B4-BE49-F238E27FC236}">
                  <a16:creationId xmlns:a16="http://schemas.microsoft.com/office/drawing/2014/main" id="{44BECB42-88AF-0B8A-992B-AA5576B0ED13}"/>
                </a:ext>
              </a:extLst>
            </p:cNvPr>
            <p:cNvSpPr/>
            <p:nvPr/>
          </p:nvSpPr>
          <p:spPr>
            <a:xfrm>
              <a:off x="10585450" y="5216906"/>
              <a:ext cx="109728" cy="116586"/>
            </a:xfrm>
            <a:prstGeom prst="rect">
              <a:avLst/>
            </a:prstGeom>
            <a:solidFill>
              <a:srgbClr val="173C3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Vector_358">
              <a:extLst>
                <a:ext uri="{FF2B5EF4-FFF2-40B4-BE49-F238E27FC236}">
                  <a16:creationId xmlns:a16="http://schemas.microsoft.com/office/drawing/2014/main" id="{7F9B898C-5A23-81E1-BB9A-FA7CAC6921E8}"/>
                </a:ext>
              </a:extLst>
            </p:cNvPr>
            <p:cNvSpPr/>
            <p:nvPr/>
          </p:nvSpPr>
          <p:spPr>
            <a:xfrm>
              <a:off x="10345420" y="5443220"/>
              <a:ext cx="109728" cy="116586"/>
            </a:xfrm>
            <a:prstGeom prst="rect">
              <a:avLst/>
            </a:prstGeom>
            <a:solidFill>
              <a:srgbClr val="173C3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Vector_359">
              <a:extLst>
                <a:ext uri="{FF2B5EF4-FFF2-40B4-BE49-F238E27FC236}">
                  <a16:creationId xmlns:a16="http://schemas.microsoft.com/office/drawing/2014/main" id="{2D16BF24-76FA-3BF2-05D8-17822F1185FD}"/>
                </a:ext>
              </a:extLst>
            </p:cNvPr>
            <p:cNvSpPr/>
            <p:nvPr/>
          </p:nvSpPr>
          <p:spPr>
            <a:xfrm>
              <a:off x="10585450" y="5443220"/>
              <a:ext cx="109728" cy="116586"/>
            </a:xfrm>
            <a:prstGeom prst="rect">
              <a:avLst/>
            </a:prstGeom>
            <a:solidFill>
              <a:srgbClr val="173C3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Vector_360">
              <a:extLst>
                <a:ext uri="{FF2B5EF4-FFF2-40B4-BE49-F238E27FC236}">
                  <a16:creationId xmlns:a16="http://schemas.microsoft.com/office/drawing/2014/main" id="{417068BC-E979-3391-D993-4E7C43E0976A}"/>
                </a:ext>
              </a:extLst>
            </p:cNvPr>
            <p:cNvSpPr/>
            <p:nvPr/>
          </p:nvSpPr>
          <p:spPr>
            <a:xfrm>
              <a:off x="8809228" y="4812284"/>
              <a:ext cx="438912" cy="102870"/>
            </a:xfrm>
            <a:prstGeom prst="rect">
              <a:avLst/>
            </a:prstGeom>
            <a:solidFill>
              <a:srgbClr val="173C34"/>
            </a:solidFill>
            <a:ln w="12700">
              <a:solidFill>
                <a:srgbClr val="BACD9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5" name="Line_361">
              <a:extLst>
                <a:ext uri="{FF2B5EF4-FFF2-40B4-BE49-F238E27FC236}">
                  <a16:creationId xmlns:a16="http://schemas.microsoft.com/office/drawing/2014/main" id="{0587A9E1-FA13-1036-8F55-9D008CE554FD}"/>
                </a:ext>
              </a:extLst>
            </p:cNvPr>
            <p:cNvCxnSpPr/>
            <p:nvPr/>
          </p:nvCxnSpPr>
          <p:spPr>
            <a:xfrm>
              <a:off x="8918956" y="4812284"/>
              <a:ext cx="0" cy="102870"/>
            </a:xfrm>
            <a:prstGeom prst="line">
              <a:avLst/>
            </a:prstGeom>
            <a:ln w="9525">
              <a:solidFill>
                <a:srgbClr val="BACD9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Line_362">
              <a:extLst>
                <a:ext uri="{FF2B5EF4-FFF2-40B4-BE49-F238E27FC236}">
                  <a16:creationId xmlns:a16="http://schemas.microsoft.com/office/drawing/2014/main" id="{A3C7E520-869B-DFE9-3A87-40D41CEF6CBF}"/>
                </a:ext>
              </a:extLst>
            </p:cNvPr>
            <p:cNvCxnSpPr/>
            <p:nvPr/>
          </p:nvCxnSpPr>
          <p:spPr>
            <a:xfrm>
              <a:off x="9028684" y="4812284"/>
              <a:ext cx="0" cy="102870"/>
            </a:xfrm>
            <a:prstGeom prst="line">
              <a:avLst/>
            </a:prstGeom>
            <a:ln w="9525">
              <a:solidFill>
                <a:srgbClr val="BACD9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Line_363">
              <a:extLst>
                <a:ext uri="{FF2B5EF4-FFF2-40B4-BE49-F238E27FC236}">
                  <a16:creationId xmlns:a16="http://schemas.microsoft.com/office/drawing/2014/main" id="{04C36A27-7747-C6A0-10D4-407DC0E523D2}"/>
                </a:ext>
              </a:extLst>
            </p:cNvPr>
            <p:cNvCxnSpPr/>
            <p:nvPr/>
          </p:nvCxnSpPr>
          <p:spPr>
            <a:xfrm>
              <a:off x="9138412" y="4812284"/>
              <a:ext cx="0" cy="102870"/>
            </a:xfrm>
            <a:prstGeom prst="line">
              <a:avLst/>
            </a:prstGeom>
            <a:ln w="9525">
              <a:solidFill>
                <a:srgbClr val="BACD9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Line_364">
              <a:extLst>
                <a:ext uri="{FF2B5EF4-FFF2-40B4-BE49-F238E27FC236}">
                  <a16:creationId xmlns:a16="http://schemas.microsoft.com/office/drawing/2014/main" id="{22232DAD-0309-38E9-D882-EF9341858679}"/>
                </a:ext>
              </a:extLst>
            </p:cNvPr>
            <p:cNvCxnSpPr/>
            <p:nvPr/>
          </p:nvCxnSpPr>
          <p:spPr>
            <a:xfrm>
              <a:off x="8809228" y="4860290"/>
              <a:ext cx="438912" cy="0"/>
            </a:xfrm>
            <a:prstGeom prst="line">
              <a:avLst/>
            </a:prstGeom>
            <a:ln w="9525">
              <a:solidFill>
                <a:srgbClr val="BACD9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9" name="Vector_365">
              <a:extLst>
                <a:ext uri="{FF2B5EF4-FFF2-40B4-BE49-F238E27FC236}">
                  <a16:creationId xmlns:a16="http://schemas.microsoft.com/office/drawing/2014/main" id="{6612373B-309F-9229-E28A-D76607F93BCC}"/>
                </a:ext>
              </a:extLst>
            </p:cNvPr>
            <p:cNvSpPr/>
            <p:nvPr/>
          </p:nvSpPr>
          <p:spPr>
            <a:xfrm>
              <a:off x="10311130" y="4709414"/>
              <a:ext cx="411481" cy="96012"/>
            </a:xfrm>
            <a:prstGeom prst="rect">
              <a:avLst/>
            </a:prstGeom>
            <a:solidFill>
              <a:srgbClr val="173C34"/>
            </a:solidFill>
            <a:ln w="12700">
              <a:solidFill>
                <a:srgbClr val="BACD9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0" name="Line_366">
              <a:extLst>
                <a:ext uri="{FF2B5EF4-FFF2-40B4-BE49-F238E27FC236}">
                  <a16:creationId xmlns:a16="http://schemas.microsoft.com/office/drawing/2014/main" id="{46108EEE-7C5F-AE01-B10E-6AE3F8EDC124}"/>
                </a:ext>
              </a:extLst>
            </p:cNvPr>
            <p:cNvCxnSpPr/>
            <p:nvPr/>
          </p:nvCxnSpPr>
          <p:spPr>
            <a:xfrm>
              <a:off x="10414000" y="4709414"/>
              <a:ext cx="0" cy="96012"/>
            </a:xfrm>
            <a:prstGeom prst="line">
              <a:avLst/>
            </a:prstGeom>
            <a:ln w="9525">
              <a:solidFill>
                <a:srgbClr val="BACD9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Line_367">
              <a:extLst>
                <a:ext uri="{FF2B5EF4-FFF2-40B4-BE49-F238E27FC236}">
                  <a16:creationId xmlns:a16="http://schemas.microsoft.com/office/drawing/2014/main" id="{7D6B09A4-4BDE-F985-23AF-7D386932A9A2}"/>
                </a:ext>
              </a:extLst>
            </p:cNvPr>
            <p:cNvCxnSpPr/>
            <p:nvPr/>
          </p:nvCxnSpPr>
          <p:spPr>
            <a:xfrm>
              <a:off x="10516870" y="4709414"/>
              <a:ext cx="0" cy="96012"/>
            </a:xfrm>
            <a:prstGeom prst="line">
              <a:avLst/>
            </a:prstGeom>
            <a:ln w="9525">
              <a:solidFill>
                <a:srgbClr val="BACD9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Line_368">
              <a:extLst>
                <a:ext uri="{FF2B5EF4-FFF2-40B4-BE49-F238E27FC236}">
                  <a16:creationId xmlns:a16="http://schemas.microsoft.com/office/drawing/2014/main" id="{AD559FBD-9F53-F0F6-13C1-7D152E0E9A2E}"/>
                </a:ext>
              </a:extLst>
            </p:cNvPr>
            <p:cNvCxnSpPr/>
            <p:nvPr/>
          </p:nvCxnSpPr>
          <p:spPr>
            <a:xfrm>
              <a:off x="10619740" y="4709414"/>
              <a:ext cx="0" cy="96012"/>
            </a:xfrm>
            <a:prstGeom prst="line">
              <a:avLst/>
            </a:prstGeom>
            <a:ln w="9525">
              <a:solidFill>
                <a:srgbClr val="BACD9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Line_369">
              <a:extLst>
                <a:ext uri="{FF2B5EF4-FFF2-40B4-BE49-F238E27FC236}">
                  <a16:creationId xmlns:a16="http://schemas.microsoft.com/office/drawing/2014/main" id="{EE0752E4-2700-B258-4B7E-2B058B0A4B13}"/>
                </a:ext>
              </a:extLst>
            </p:cNvPr>
            <p:cNvCxnSpPr/>
            <p:nvPr/>
          </p:nvCxnSpPr>
          <p:spPr>
            <a:xfrm flipV="1">
              <a:off x="8541766" y="5278628"/>
              <a:ext cx="0" cy="438912"/>
            </a:xfrm>
            <a:prstGeom prst="line">
              <a:avLst/>
            </a:prstGeom>
            <a:ln w="20574">
              <a:solidFill>
                <a:srgbClr val="BACD9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4" name="Vector_370">
              <a:extLst>
                <a:ext uri="{FF2B5EF4-FFF2-40B4-BE49-F238E27FC236}">
                  <a16:creationId xmlns:a16="http://schemas.microsoft.com/office/drawing/2014/main" id="{036DF6C6-56AF-CA50-E12B-60B039242AE4}"/>
                </a:ext>
              </a:extLst>
            </p:cNvPr>
            <p:cNvSpPr/>
            <p:nvPr/>
          </p:nvSpPr>
          <p:spPr>
            <a:xfrm>
              <a:off x="8377174" y="5079746"/>
              <a:ext cx="274320" cy="370332"/>
            </a:xfrm>
            <a:prstGeom prst="ellipse">
              <a:avLst/>
            </a:prstGeom>
            <a:solidFill>
              <a:srgbClr val="BACD91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Vector_371">
              <a:extLst>
                <a:ext uri="{FF2B5EF4-FFF2-40B4-BE49-F238E27FC236}">
                  <a16:creationId xmlns:a16="http://schemas.microsoft.com/office/drawing/2014/main" id="{195DA916-4A37-501C-0E52-F104465E089C}"/>
                </a:ext>
              </a:extLst>
            </p:cNvPr>
            <p:cNvSpPr/>
            <p:nvPr/>
          </p:nvSpPr>
          <p:spPr>
            <a:xfrm>
              <a:off x="8480044" y="5196332"/>
              <a:ext cx="267462" cy="294894"/>
            </a:xfrm>
            <a:prstGeom prst="ellipse">
              <a:avLst/>
            </a:prstGeom>
            <a:solidFill>
              <a:srgbClr val="BACD91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6" name="Line_372">
              <a:extLst>
                <a:ext uri="{FF2B5EF4-FFF2-40B4-BE49-F238E27FC236}">
                  <a16:creationId xmlns:a16="http://schemas.microsoft.com/office/drawing/2014/main" id="{F6034A9A-6EBD-A109-61A5-DE55DFB0CFBE}"/>
                </a:ext>
              </a:extLst>
            </p:cNvPr>
            <p:cNvCxnSpPr/>
            <p:nvPr/>
          </p:nvCxnSpPr>
          <p:spPr>
            <a:xfrm flipV="1">
              <a:off x="10983214" y="5357632"/>
              <a:ext cx="0" cy="359908"/>
            </a:xfrm>
            <a:prstGeom prst="line">
              <a:avLst/>
            </a:prstGeom>
            <a:ln w="16871">
              <a:solidFill>
                <a:srgbClr val="BACD9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7" name="Vector_373">
              <a:extLst>
                <a:ext uri="{FF2B5EF4-FFF2-40B4-BE49-F238E27FC236}">
                  <a16:creationId xmlns:a16="http://schemas.microsoft.com/office/drawing/2014/main" id="{B31B85AA-4D17-71A0-47F1-4C86D27398DC}"/>
                </a:ext>
              </a:extLst>
            </p:cNvPr>
            <p:cNvSpPr/>
            <p:nvPr/>
          </p:nvSpPr>
          <p:spPr>
            <a:xfrm>
              <a:off x="10848249" y="5194549"/>
              <a:ext cx="224942" cy="303672"/>
            </a:xfrm>
            <a:prstGeom prst="ellipse">
              <a:avLst/>
            </a:prstGeom>
            <a:solidFill>
              <a:srgbClr val="BACD91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Vector_374">
              <a:extLst>
                <a:ext uri="{FF2B5EF4-FFF2-40B4-BE49-F238E27FC236}">
                  <a16:creationId xmlns:a16="http://schemas.microsoft.com/office/drawing/2014/main" id="{31974E69-0112-D18A-F0BE-A1E7F02F6131}"/>
                </a:ext>
              </a:extLst>
            </p:cNvPr>
            <p:cNvSpPr/>
            <p:nvPr/>
          </p:nvSpPr>
          <p:spPr>
            <a:xfrm>
              <a:off x="10932602" y="5290150"/>
              <a:ext cx="219319" cy="241813"/>
            </a:xfrm>
            <a:prstGeom prst="ellipse">
              <a:avLst/>
            </a:prstGeom>
            <a:solidFill>
              <a:srgbClr val="BACD91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9" name="Line_375">
              <a:extLst>
                <a:ext uri="{FF2B5EF4-FFF2-40B4-BE49-F238E27FC236}">
                  <a16:creationId xmlns:a16="http://schemas.microsoft.com/office/drawing/2014/main" id="{5802F292-1179-6F32-9B33-D6EA3B80DFCA}"/>
                </a:ext>
              </a:extLst>
            </p:cNvPr>
            <p:cNvCxnSpPr/>
            <p:nvPr/>
          </p:nvCxnSpPr>
          <p:spPr>
            <a:xfrm flipV="1">
              <a:off x="9405874" y="5476138"/>
              <a:ext cx="0" cy="241402"/>
            </a:xfrm>
            <a:prstGeom prst="line">
              <a:avLst/>
            </a:prstGeom>
            <a:ln w="11316">
              <a:solidFill>
                <a:srgbClr val="BACD9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0" name="Vector_376">
              <a:extLst>
                <a:ext uri="{FF2B5EF4-FFF2-40B4-BE49-F238E27FC236}">
                  <a16:creationId xmlns:a16="http://schemas.microsoft.com/office/drawing/2014/main" id="{78481A33-3FAB-13F2-C21A-646E9D968202}"/>
                </a:ext>
              </a:extLst>
            </p:cNvPr>
            <p:cNvSpPr/>
            <p:nvPr/>
          </p:nvSpPr>
          <p:spPr>
            <a:xfrm>
              <a:off x="9315348" y="5366753"/>
              <a:ext cx="150877" cy="203683"/>
            </a:xfrm>
            <a:prstGeom prst="ellipse">
              <a:avLst/>
            </a:prstGeom>
            <a:solidFill>
              <a:srgbClr val="BACD91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Vector_377">
              <a:extLst>
                <a:ext uri="{FF2B5EF4-FFF2-40B4-BE49-F238E27FC236}">
                  <a16:creationId xmlns:a16="http://schemas.microsoft.com/office/drawing/2014/main" id="{5F540A0E-F507-F26C-E5F2-C9B261E878CF}"/>
                </a:ext>
              </a:extLst>
            </p:cNvPr>
            <p:cNvSpPr/>
            <p:nvPr/>
          </p:nvSpPr>
          <p:spPr>
            <a:xfrm>
              <a:off x="9371927" y="5430875"/>
              <a:ext cx="147104" cy="162192"/>
            </a:xfrm>
            <a:prstGeom prst="ellipse">
              <a:avLst/>
            </a:prstGeom>
            <a:solidFill>
              <a:srgbClr val="BACD91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2" name="Line_378">
              <a:extLst>
                <a:ext uri="{FF2B5EF4-FFF2-40B4-BE49-F238E27FC236}">
                  <a16:creationId xmlns:a16="http://schemas.microsoft.com/office/drawing/2014/main" id="{A6084190-B29B-F8B6-EF92-A201AB63BC13}"/>
                </a:ext>
              </a:extLst>
            </p:cNvPr>
            <p:cNvCxnSpPr/>
            <p:nvPr/>
          </p:nvCxnSpPr>
          <p:spPr>
            <a:xfrm>
              <a:off x="8342884" y="5724398"/>
              <a:ext cx="2859786" cy="0"/>
            </a:xfrm>
            <a:prstGeom prst="line">
              <a:avLst/>
            </a:prstGeom>
            <a:ln w="13716">
              <a:solidFill>
                <a:srgbClr val="AFC18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09616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_65">
            <a:extLst>
              <a:ext uri="{FF2B5EF4-FFF2-40B4-BE49-F238E27FC236}">
                <a16:creationId xmlns:a16="http://schemas.microsoft.com/office/drawing/2014/main" id="{871B040E-F9FE-40AF-2582-A522DCDFAA18}"/>
              </a:ext>
            </a:extLst>
          </p:cNvPr>
          <p:cNvSpPr txBox="1"/>
          <p:nvPr/>
        </p:nvSpPr>
        <p:spPr>
          <a:xfrm>
            <a:off x="609600" y="495297"/>
            <a:ext cx="8543544" cy="83185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7000"/>
              </a:lnSpc>
            </a:pPr>
            <a:r>
              <a:rPr lang="bg-BG" sz="7200" b="1" dirty="0">
                <a:solidFill>
                  <a:srgbClr val="223E35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Красна поляна</a:t>
            </a:r>
          </a:p>
        </p:txBody>
      </p:sp>
      <p:sp>
        <p:nvSpPr>
          <p:cNvPr id="4" name="Text_66">
            <a:extLst>
              <a:ext uri="{FF2B5EF4-FFF2-40B4-BE49-F238E27FC236}">
                <a16:creationId xmlns:a16="http://schemas.microsoft.com/office/drawing/2014/main" id="{FB8A8400-BF33-6483-3F41-761AFBC74711}"/>
              </a:ext>
            </a:extLst>
          </p:cNvPr>
          <p:cNvSpPr txBox="1"/>
          <p:nvPr/>
        </p:nvSpPr>
        <p:spPr>
          <a:xfrm>
            <a:off x="2632074" y="1695451"/>
            <a:ext cx="6429629" cy="317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7000"/>
              </a:lnSpc>
            </a:pPr>
            <a:r>
              <a:rPr lang="bg-BG" i="1" dirty="0">
                <a:solidFill>
                  <a:srgbClr val="657268"/>
                </a:solidFill>
                <a:latin typeface="Segoe UI" panose="020B0502040204020203" pitchFamily="34" charset="0"/>
              </a:rPr>
              <a:t>Четирима участници. Четири роли. Един отбор.</a:t>
            </a:r>
          </a:p>
        </p:txBody>
      </p:sp>
      <p:cxnSp>
        <p:nvCxnSpPr>
          <p:cNvPr id="5" name="Line_67">
            <a:extLst>
              <a:ext uri="{FF2B5EF4-FFF2-40B4-BE49-F238E27FC236}">
                <a16:creationId xmlns:a16="http://schemas.microsoft.com/office/drawing/2014/main" id="{7E78EBA7-5262-11AF-4D17-1A751BCC41CD}"/>
              </a:ext>
            </a:extLst>
          </p:cNvPr>
          <p:cNvCxnSpPr/>
          <p:nvPr/>
        </p:nvCxnSpPr>
        <p:spPr>
          <a:xfrm>
            <a:off x="609600" y="6299200"/>
            <a:ext cx="10972800" cy="0"/>
          </a:xfrm>
          <a:prstGeom prst="line">
            <a:avLst/>
          </a:prstGeom>
          <a:ln w="10160">
            <a:solidFill>
              <a:srgbClr val="D5DD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_68">
            <a:extLst>
              <a:ext uri="{FF2B5EF4-FFF2-40B4-BE49-F238E27FC236}">
                <a16:creationId xmlns:a16="http://schemas.microsoft.com/office/drawing/2014/main" id="{6833EBC5-8241-4DF5-1577-8FEE301C7010}"/>
              </a:ext>
            </a:extLst>
          </p:cNvPr>
          <p:cNvSpPr txBox="1"/>
          <p:nvPr/>
        </p:nvSpPr>
        <p:spPr>
          <a:xfrm>
            <a:off x="609600" y="6451600"/>
            <a:ext cx="54610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7000"/>
              </a:lnSpc>
            </a:pPr>
            <a:r>
              <a:rPr lang="bg-BG" sz="1000">
                <a:solidFill>
                  <a:srgbClr val="657268"/>
                </a:solidFill>
                <a:latin typeface="Segoe UI" panose="020B0502040204020203" pitchFamily="34" charset="0"/>
              </a:rPr>
              <a:t>OPTIMESH  /  КРАСНА ПОЛЯНА</a:t>
            </a:r>
            <a:endParaRPr lang="bg-BG" sz="1000" dirty="0">
              <a:solidFill>
                <a:srgbClr val="657268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Vector_70">
            <a:extLst>
              <a:ext uri="{FF2B5EF4-FFF2-40B4-BE49-F238E27FC236}">
                <a16:creationId xmlns:a16="http://schemas.microsoft.com/office/drawing/2014/main" id="{E5707918-4037-5ABB-30B2-12E67D2A7708}"/>
              </a:ext>
            </a:extLst>
          </p:cNvPr>
          <p:cNvSpPr/>
          <p:nvPr/>
        </p:nvSpPr>
        <p:spPr>
          <a:xfrm>
            <a:off x="609600" y="2413000"/>
            <a:ext cx="2590800" cy="3340100"/>
          </a:xfrm>
          <a:prstGeom prst="rect">
            <a:avLst/>
          </a:prstGeom>
          <a:solidFill>
            <a:srgbClr val="E8EDD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Vector_71">
            <a:extLst>
              <a:ext uri="{FF2B5EF4-FFF2-40B4-BE49-F238E27FC236}">
                <a16:creationId xmlns:a16="http://schemas.microsoft.com/office/drawing/2014/main" id="{D28523D2-9DA4-618B-6517-737B961ED970}"/>
              </a:ext>
            </a:extLst>
          </p:cNvPr>
          <p:cNvSpPr/>
          <p:nvPr/>
        </p:nvSpPr>
        <p:spPr>
          <a:xfrm>
            <a:off x="838200" y="2679700"/>
            <a:ext cx="622300" cy="622300"/>
          </a:xfrm>
          <a:prstGeom prst="ellipse">
            <a:avLst/>
          </a:prstGeom>
          <a:solidFill>
            <a:srgbClr val="173C3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_72">
            <a:extLst>
              <a:ext uri="{FF2B5EF4-FFF2-40B4-BE49-F238E27FC236}">
                <a16:creationId xmlns:a16="http://schemas.microsoft.com/office/drawing/2014/main" id="{D33C0E0F-37CC-9CD6-D9A8-92D451E167CE}"/>
              </a:ext>
            </a:extLst>
          </p:cNvPr>
          <p:cNvSpPr txBox="1"/>
          <p:nvPr/>
        </p:nvSpPr>
        <p:spPr>
          <a:xfrm>
            <a:off x="838200" y="2787650"/>
            <a:ext cx="6223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7000"/>
              </a:lnSpc>
            </a:pPr>
            <a:r>
              <a:rPr lang="bg-BG" sz="2300" b="1" dirty="0">
                <a:solidFill>
                  <a:srgbClr val="FFFFFF"/>
                </a:solidFill>
                <a:latin typeface="Segoe UI Semibold" panose="020B0702040204020203" pitchFamily="34" charset="0"/>
              </a:rPr>
              <a:t>Д</a:t>
            </a:r>
          </a:p>
        </p:txBody>
      </p:sp>
      <p:sp>
        <p:nvSpPr>
          <p:cNvPr id="11" name="Text_73">
            <a:extLst>
              <a:ext uri="{FF2B5EF4-FFF2-40B4-BE49-F238E27FC236}">
                <a16:creationId xmlns:a16="http://schemas.microsoft.com/office/drawing/2014/main" id="{707A9F40-98FE-1464-1F92-F35863207E73}"/>
              </a:ext>
            </a:extLst>
          </p:cNvPr>
          <p:cNvSpPr txBox="1"/>
          <p:nvPr/>
        </p:nvSpPr>
        <p:spPr>
          <a:xfrm>
            <a:off x="838200" y="3530599"/>
            <a:ext cx="2209800" cy="469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7000"/>
              </a:lnSpc>
            </a:pPr>
            <a:r>
              <a:rPr lang="bg-BG" sz="2600" b="1" dirty="0">
                <a:solidFill>
                  <a:srgbClr val="173C34"/>
                </a:solidFill>
                <a:latin typeface="Segoe UI Semibold" panose="020B0702040204020203" pitchFamily="34" charset="0"/>
              </a:rPr>
              <a:t>Даниел</a:t>
            </a:r>
          </a:p>
        </p:txBody>
      </p:sp>
      <p:sp>
        <p:nvSpPr>
          <p:cNvPr id="12" name="Text_74">
            <a:extLst>
              <a:ext uri="{FF2B5EF4-FFF2-40B4-BE49-F238E27FC236}">
                <a16:creationId xmlns:a16="http://schemas.microsoft.com/office/drawing/2014/main" id="{38D903D8-8388-2FB3-D8E0-807E3B339BE7}"/>
              </a:ext>
            </a:extLst>
          </p:cNvPr>
          <p:cNvSpPr txBox="1"/>
          <p:nvPr/>
        </p:nvSpPr>
        <p:spPr>
          <a:xfrm>
            <a:off x="838200" y="4127499"/>
            <a:ext cx="2247900" cy="1193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7000"/>
              </a:lnSpc>
            </a:pPr>
            <a:r>
              <a:rPr lang="bg-BG" sz="1700" i="1" dirty="0">
                <a:solidFill>
                  <a:srgbClr val="223E35"/>
                </a:solidFill>
                <a:latin typeface="Segoe UI" panose="020B0502040204020203" pitchFamily="34" charset="0"/>
              </a:rPr>
              <a:t>Капитан</a:t>
            </a:r>
          </a:p>
          <a:p>
            <a:pPr>
              <a:lnSpc>
                <a:spcPct val="107000"/>
              </a:lnSpc>
            </a:pPr>
            <a:r>
              <a:rPr lang="bg-BG" sz="1700" i="1" dirty="0">
                <a:solidFill>
                  <a:srgbClr val="223E35"/>
                </a:solidFill>
                <a:latin typeface="Segoe UI" panose="020B0502040204020203" pitchFamily="34" charset="0"/>
              </a:rPr>
              <a:t>Хардуерен дизайн</a:t>
            </a:r>
          </a:p>
          <a:p>
            <a:pPr>
              <a:lnSpc>
                <a:spcPct val="107000"/>
              </a:lnSpc>
            </a:pPr>
            <a:r>
              <a:rPr lang="bg-BG" sz="1700" i="1" dirty="0">
                <a:solidFill>
                  <a:srgbClr val="223E35"/>
                </a:solidFill>
                <a:latin typeface="Segoe UI" panose="020B0502040204020203" pitchFamily="34" charset="0"/>
              </a:rPr>
              <a:t>и изпълнение</a:t>
            </a:r>
          </a:p>
        </p:txBody>
      </p:sp>
      <p:sp>
        <p:nvSpPr>
          <p:cNvPr id="13" name="Text_75">
            <a:extLst>
              <a:ext uri="{FF2B5EF4-FFF2-40B4-BE49-F238E27FC236}">
                <a16:creationId xmlns:a16="http://schemas.microsoft.com/office/drawing/2014/main" id="{0F7203EF-3B9E-B092-761C-46195ED718F8}"/>
              </a:ext>
            </a:extLst>
          </p:cNvPr>
          <p:cNvSpPr txBox="1"/>
          <p:nvPr/>
        </p:nvSpPr>
        <p:spPr>
          <a:xfrm>
            <a:off x="838200" y="5448300"/>
            <a:ext cx="80645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7000"/>
              </a:lnSpc>
            </a:pPr>
            <a:r>
              <a:rPr lang="bg-BG" sz="900" b="1" dirty="0">
                <a:solidFill>
                  <a:srgbClr val="657268"/>
                </a:solidFill>
                <a:latin typeface="Segoe UI Semibold" panose="020B0702040204020203" pitchFamily="34" charset="0"/>
              </a:rPr>
              <a:t>01 / ХАРДУЕР</a:t>
            </a:r>
          </a:p>
        </p:txBody>
      </p:sp>
      <p:sp>
        <p:nvSpPr>
          <p:cNvPr id="14" name="Vector_76">
            <a:extLst>
              <a:ext uri="{FF2B5EF4-FFF2-40B4-BE49-F238E27FC236}">
                <a16:creationId xmlns:a16="http://schemas.microsoft.com/office/drawing/2014/main" id="{3546EC25-086F-5BA9-48D3-2E1BF8262EE7}"/>
              </a:ext>
            </a:extLst>
          </p:cNvPr>
          <p:cNvSpPr/>
          <p:nvPr/>
        </p:nvSpPr>
        <p:spPr>
          <a:xfrm>
            <a:off x="3403600" y="2413000"/>
            <a:ext cx="2590800" cy="3340100"/>
          </a:xfrm>
          <a:prstGeom prst="rect">
            <a:avLst/>
          </a:prstGeom>
          <a:solidFill>
            <a:srgbClr val="FFF0C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Vector_77">
            <a:extLst>
              <a:ext uri="{FF2B5EF4-FFF2-40B4-BE49-F238E27FC236}">
                <a16:creationId xmlns:a16="http://schemas.microsoft.com/office/drawing/2014/main" id="{F42AD818-B891-B34D-C688-6DBEF8859404}"/>
              </a:ext>
            </a:extLst>
          </p:cNvPr>
          <p:cNvSpPr/>
          <p:nvPr/>
        </p:nvSpPr>
        <p:spPr>
          <a:xfrm>
            <a:off x="3632200" y="2679700"/>
            <a:ext cx="622300" cy="622300"/>
          </a:xfrm>
          <a:prstGeom prst="ellipse">
            <a:avLst/>
          </a:prstGeom>
          <a:solidFill>
            <a:srgbClr val="173C3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_78">
            <a:extLst>
              <a:ext uri="{FF2B5EF4-FFF2-40B4-BE49-F238E27FC236}">
                <a16:creationId xmlns:a16="http://schemas.microsoft.com/office/drawing/2014/main" id="{54E75013-8D1B-B374-0B63-F9538C714DE3}"/>
              </a:ext>
            </a:extLst>
          </p:cNvPr>
          <p:cNvSpPr txBox="1"/>
          <p:nvPr/>
        </p:nvSpPr>
        <p:spPr>
          <a:xfrm>
            <a:off x="3632200" y="2787650"/>
            <a:ext cx="6223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7000"/>
              </a:lnSpc>
            </a:pPr>
            <a:r>
              <a:rPr lang="bg-BG" sz="2300" b="1" dirty="0">
                <a:solidFill>
                  <a:srgbClr val="FFFFFF"/>
                </a:solidFill>
                <a:latin typeface="Segoe UI Semibold" panose="020B0702040204020203" pitchFamily="34" charset="0"/>
              </a:rPr>
              <a:t>С</a:t>
            </a:r>
          </a:p>
        </p:txBody>
      </p:sp>
      <p:sp>
        <p:nvSpPr>
          <p:cNvPr id="17" name="Text_79">
            <a:extLst>
              <a:ext uri="{FF2B5EF4-FFF2-40B4-BE49-F238E27FC236}">
                <a16:creationId xmlns:a16="http://schemas.microsoft.com/office/drawing/2014/main" id="{78A4E7A2-53A2-0655-900E-7EAEA31D638C}"/>
              </a:ext>
            </a:extLst>
          </p:cNvPr>
          <p:cNvSpPr txBox="1"/>
          <p:nvPr/>
        </p:nvSpPr>
        <p:spPr>
          <a:xfrm>
            <a:off x="3632200" y="3530599"/>
            <a:ext cx="2209800" cy="469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7000"/>
              </a:lnSpc>
            </a:pPr>
            <a:r>
              <a:rPr lang="bg-BG" sz="2600" b="1" dirty="0">
                <a:solidFill>
                  <a:srgbClr val="173C34"/>
                </a:solidFill>
                <a:latin typeface="Segoe UI Semibold" panose="020B0702040204020203" pitchFamily="34" charset="0"/>
              </a:rPr>
              <a:t>Стоян</a:t>
            </a:r>
          </a:p>
        </p:txBody>
      </p:sp>
      <p:sp>
        <p:nvSpPr>
          <p:cNvPr id="18" name="Text_80">
            <a:extLst>
              <a:ext uri="{FF2B5EF4-FFF2-40B4-BE49-F238E27FC236}">
                <a16:creationId xmlns:a16="http://schemas.microsoft.com/office/drawing/2014/main" id="{D6590ECA-1CE7-143E-BE90-4F13432C7BB2}"/>
              </a:ext>
            </a:extLst>
          </p:cNvPr>
          <p:cNvSpPr txBox="1"/>
          <p:nvPr/>
        </p:nvSpPr>
        <p:spPr>
          <a:xfrm>
            <a:off x="3632200" y="4127499"/>
            <a:ext cx="2247900" cy="1193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7000"/>
              </a:lnSpc>
            </a:pPr>
            <a:r>
              <a:rPr lang="bg-BG" sz="1700" i="1" dirty="0" err="1">
                <a:solidFill>
                  <a:srgbClr val="223E35"/>
                </a:solidFill>
                <a:latin typeface="Segoe UI" panose="020B0502040204020203" pitchFamily="34" charset="0"/>
              </a:rPr>
              <a:t>Full-stack</a:t>
            </a:r>
            <a:r>
              <a:rPr lang="bg-BG" sz="1700" i="1" dirty="0">
                <a:solidFill>
                  <a:srgbClr val="223E35"/>
                </a:solidFill>
                <a:latin typeface="Segoe UI" panose="020B0502040204020203" pitchFamily="34" charset="0"/>
              </a:rPr>
              <a:t> </a:t>
            </a:r>
            <a:r>
              <a:rPr lang="bg-BG" sz="1700" i="1" dirty="0" err="1">
                <a:solidFill>
                  <a:srgbClr val="223E35"/>
                </a:solidFill>
                <a:latin typeface="Segoe UI" panose="020B0502040204020203" pitchFamily="34" charset="0"/>
              </a:rPr>
              <a:t>developer</a:t>
            </a:r>
            <a:endParaRPr lang="bg-BG" sz="1700" i="1" dirty="0">
              <a:solidFill>
                <a:srgbClr val="223E35"/>
              </a:solidFill>
              <a:latin typeface="Segoe UI" panose="020B0502040204020203" pitchFamily="34" charset="0"/>
            </a:endParaRPr>
          </a:p>
          <a:p>
            <a:pPr>
              <a:lnSpc>
                <a:spcPct val="107000"/>
              </a:lnSpc>
            </a:pPr>
            <a:r>
              <a:rPr lang="bg-BG" sz="1700" i="1" dirty="0">
                <a:solidFill>
                  <a:srgbClr val="223E35"/>
                </a:solidFill>
                <a:latin typeface="Segoe UI" panose="020B0502040204020203" pitchFamily="34" charset="0"/>
              </a:rPr>
              <a:t>База данни</a:t>
            </a:r>
          </a:p>
        </p:txBody>
      </p:sp>
      <p:sp>
        <p:nvSpPr>
          <p:cNvPr id="19" name="Text_81">
            <a:extLst>
              <a:ext uri="{FF2B5EF4-FFF2-40B4-BE49-F238E27FC236}">
                <a16:creationId xmlns:a16="http://schemas.microsoft.com/office/drawing/2014/main" id="{58BFD98D-E83A-5268-D33F-69FC89BFDA98}"/>
              </a:ext>
            </a:extLst>
          </p:cNvPr>
          <p:cNvSpPr txBox="1"/>
          <p:nvPr/>
        </p:nvSpPr>
        <p:spPr>
          <a:xfrm>
            <a:off x="3632200" y="5448300"/>
            <a:ext cx="7874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7000"/>
              </a:lnSpc>
            </a:pPr>
            <a:r>
              <a:rPr lang="bg-BG" sz="900" b="1" dirty="0">
                <a:solidFill>
                  <a:srgbClr val="657268"/>
                </a:solidFill>
                <a:latin typeface="Segoe UI Semibold" panose="020B0702040204020203" pitchFamily="34" charset="0"/>
              </a:rPr>
              <a:t>02 / СОФТУЕР</a:t>
            </a:r>
          </a:p>
        </p:txBody>
      </p:sp>
      <p:sp>
        <p:nvSpPr>
          <p:cNvPr id="20" name="Vector_82">
            <a:extLst>
              <a:ext uri="{FF2B5EF4-FFF2-40B4-BE49-F238E27FC236}">
                <a16:creationId xmlns:a16="http://schemas.microsoft.com/office/drawing/2014/main" id="{EE260E9A-80A1-23AB-2B38-B8ED7CA2520F}"/>
              </a:ext>
            </a:extLst>
          </p:cNvPr>
          <p:cNvSpPr/>
          <p:nvPr/>
        </p:nvSpPr>
        <p:spPr>
          <a:xfrm>
            <a:off x="6197600" y="2413000"/>
            <a:ext cx="2590800" cy="3340100"/>
          </a:xfrm>
          <a:prstGeom prst="rect">
            <a:avLst/>
          </a:prstGeom>
          <a:solidFill>
            <a:srgbClr val="E8EDD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Vector_83">
            <a:extLst>
              <a:ext uri="{FF2B5EF4-FFF2-40B4-BE49-F238E27FC236}">
                <a16:creationId xmlns:a16="http://schemas.microsoft.com/office/drawing/2014/main" id="{66002355-51B7-A4A0-BA5C-1BE5E635177D}"/>
              </a:ext>
            </a:extLst>
          </p:cNvPr>
          <p:cNvSpPr/>
          <p:nvPr/>
        </p:nvSpPr>
        <p:spPr>
          <a:xfrm>
            <a:off x="6426200" y="2679700"/>
            <a:ext cx="622300" cy="622300"/>
          </a:xfrm>
          <a:prstGeom prst="ellipse">
            <a:avLst/>
          </a:prstGeom>
          <a:solidFill>
            <a:srgbClr val="173C3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_84">
            <a:extLst>
              <a:ext uri="{FF2B5EF4-FFF2-40B4-BE49-F238E27FC236}">
                <a16:creationId xmlns:a16="http://schemas.microsoft.com/office/drawing/2014/main" id="{8EAB6D1C-228A-71F8-6129-2D9F95AD3D2A}"/>
              </a:ext>
            </a:extLst>
          </p:cNvPr>
          <p:cNvSpPr txBox="1"/>
          <p:nvPr/>
        </p:nvSpPr>
        <p:spPr>
          <a:xfrm>
            <a:off x="6426200" y="2793999"/>
            <a:ext cx="6223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7000"/>
              </a:lnSpc>
            </a:pPr>
            <a:r>
              <a:rPr lang="bg-BG" sz="2300" b="1" dirty="0">
                <a:solidFill>
                  <a:srgbClr val="FFFFFF"/>
                </a:solidFill>
                <a:latin typeface="Segoe UI Semibold" panose="020B0702040204020203" pitchFamily="34" charset="0"/>
              </a:rPr>
              <a:t>Й</a:t>
            </a:r>
          </a:p>
        </p:txBody>
      </p:sp>
      <p:sp>
        <p:nvSpPr>
          <p:cNvPr id="23" name="Text_85">
            <a:extLst>
              <a:ext uri="{FF2B5EF4-FFF2-40B4-BE49-F238E27FC236}">
                <a16:creationId xmlns:a16="http://schemas.microsoft.com/office/drawing/2014/main" id="{032D0422-56BA-49FC-3288-F3E5723CC6F2}"/>
              </a:ext>
            </a:extLst>
          </p:cNvPr>
          <p:cNvSpPr txBox="1"/>
          <p:nvPr/>
        </p:nvSpPr>
        <p:spPr>
          <a:xfrm>
            <a:off x="6426200" y="3530599"/>
            <a:ext cx="2209800" cy="469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7000"/>
              </a:lnSpc>
            </a:pPr>
            <a:r>
              <a:rPr lang="bg-BG" sz="2600" b="1">
                <a:solidFill>
                  <a:srgbClr val="173C34"/>
                </a:solidFill>
                <a:latin typeface="Segoe UI Semibold" panose="020B0702040204020203" pitchFamily="34" charset="0"/>
              </a:rPr>
              <a:t>Йордан</a:t>
            </a:r>
            <a:endParaRPr lang="bg-BG" sz="2600" b="1" dirty="0">
              <a:solidFill>
                <a:srgbClr val="173C34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4" name="Text_86">
            <a:extLst>
              <a:ext uri="{FF2B5EF4-FFF2-40B4-BE49-F238E27FC236}">
                <a16:creationId xmlns:a16="http://schemas.microsoft.com/office/drawing/2014/main" id="{2E13F3AA-07AB-93E1-DE1E-EFA89792877E}"/>
              </a:ext>
            </a:extLst>
          </p:cNvPr>
          <p:cNvSpPr txBox="1"/>
          <p:nvPr/>
        </p:nvSpPr>
        <p:spPr>
          <a:xfrm>
            <a:off x="6426200" y="4127499"/>
            <a:ext cx="2247900" cy="1193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7000"/>
              </a:lnSpc>
            </a:pPr>
            <a:r>
              <a:rPr lang="bg-BG" sz="1700" i="1" dirty="0" err="1">
                <a:solidFill>
                  <a:srgbClr val="223E35"/>
                </a:solidFill>
                <a:latin typeface="Segoe UI" panose="020B0502040204020203" pitchFamily="34" charset="0"/>
              </a:rPr>
              <a:t>Game</a:t>
            </a:r>
            <a:r>
              <a:rPr lang="bg-BG" sz="1700" i="1" dirty="0">
                <a:solidFill>
                  <a:srgbClr val="223E35"/>
                </a:solidFill>
                <a:latin typeface="Segoe UI" panose="020B0502040204020203" pitchFamily="34" charset="0"/>
              </a:rPr>
              <a:t> </a:t>
            </a:r>
            <a:r>
              <a:rPr lang="bg-BG" sz="1700" i="1" dirty="0" err="1">
                <a:solidFill>
                  <a:srgbClr val="223E35"/>
                </a:solidFill>
                <a:latin typeface="Segoe UI" panose="020B0502040204020203" pitchFamily="34" charset="0"/>
              </a:rPr>
              <a:t>designer</a:t>
            </a:r>
            <a:endParaRPr lang="bg-BG" sz="1700" i="1" dirty="0">
              <a:solidFill>
                <a:srgbClr val="223E35"/>
              </a:solidFill>
              <a:latin typeface="Segoe UI" panose="020B0502040204020203" pitchFamily="34" charset="0"/>
            </a:endParaRPr>
          </a:p>
          <a:p>
            <a:pPr>
              <a:lnSpc>
                <a:spcPct val="107000"/>
              </a:lnSpc>
            </a:pPr>
            <a:r>
              <a:rPr lang="bg-BG" sz="1700" i="1" dirty="0">
                <a:solidFill>
                  <a:srgbClr val="223E35"/>
                </a:solidFill>
                <a:latin typeface="Segoe UI" panose="020B0502040204020203" pitchFamily="34" charset="0"/>
              </a:rPr>
              <a:t>Документация</a:t>
            </a:r>
          </a:p>
        </p:txBody>
      </p:sp>
      <p:sp>
        <p:nvSpPr>
          <p:cNvPr id="25" name="Text_87">
            <a:extLst>
              <a:ext uri="{FF2B5EF4-FFF2-40B4-BE49-F238E27FC236}">
                <a16:creationId xmlns:a16="http://schemas.microsoft.com/office/drawing/2014/main" id="{DD6956D4-0F02-2DFA-F8FB-8A0BAB740441}"/>
              </a:ext>
            </a:extLst>
          </p:cNvPr>
          <p:cNvSpPr txBox="1"/>
          <p:nvPr/>
        </p:nvSpPr>
        <p:spPr>
          <a:xfrm>
            <a:off x="6426200" y="5448300"/>
            <a:ext cx="7493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7000"/>
              </a:lnSpc>
            </a:pPr>
            <a:r>
              <a:rPr lang="bg-BG" sz="900" b="1" dirty="0">
                <a:solidFill>
                  <a:srgbClr val="657268"/>
                </a:solidFill>
                <a:latin typeface="Segoe UI Semibold" panose="020B0702040204020203" pitchFamily="34" charset="0"/>
              </a:rPr>
              <a:t>03 / ПРИМЕР</a:t>
            </a:r>
          </a:p>
        </p:txBody>
      </p:sp>
      <p:sp>
        <p:nvSpPr>
          <p:cNvPr id="26" name="Vector_88">
            <a:extLst>
              <a:ext uri="{FF2B5EF4-FFF2-40B4-BE49-F238E27FC236}">
                <a16:creationId xmlns:a16="http://schemas.microsoft.com/office/drawing/2014/main" id="{80E4885C-E49C-12B7-7A55-8F773E3F76B8}"/>
              </a:ext>
            </a:extLst>
          </p:cNvPr>
          <p:cNvSpPr/>
          <p:nvPr/>
        </p:nvSpPr>
        <p:spPr>
          <a:xfrm>
            <a:off x="8991600" y="2413000"/>
            <a:ext cx="2590800" cy="3340100"/>
          </a:xfrm>
          <a:prstGeom prst="rect">
            <a:avLst/>
          </a:prstGeom>
          <a:solidFill>
            <a:srgbClr val="FFF0C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Vector_89">
            <a:extLst>
              <a:ext uri="{FF2B5EF4-FFF2-40B4-BE49-F238E27FC236}">
                <a16:creationId xmlns:a16="http://schemas.microsoft.com/office/drawing/2014/main" id="{CAFF24A1-48AB-7C0A-7999-DCCEA99BDCB7}"/>
              </a:ext>
            </a:extLst>
          </p:cNvPr>
          <p:cNvSpPr/>
          <p:nvPr/>
        </p:nvSpPr>
        <p:spPr>
          <a:xfrm>
            <a:off x="9220200" y="2679700"/>
            <a:ext cx="622300" cy="622300"/>
          </a:xfrm>
          <a:prstGeom prst="ellipse">
            <a:avLst/>
          </a:prstGeom>
          <a:solidFill>
            <a:srgbClr val="173C3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_90">
            <a:extLst>
              <a:ext uri="{FF2B5EF4-FFF2-40B4-BE49-F238E27FC236}">
                <a16:creationId xmlns:a16="http://schemas.microsoft.com/office/drawing/2014/main" id="{F05C642B-45BD-9C75-97FD-457AADF41FAD}"/>
              </a:ext>
            </a:extLst>
          </p:cNvPr>
          <p:cNvSpPr txBox="1"/>
          <p:nvPr/>
        </p:nvSpPr>
        <p:spPr>
          <a:xfrm>
            <a:off x="9220200" y="2787650"/>
            <a:ext cx="6223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7000"/>
              </a:lnSpc>
            </a:pPr>
            <a:r>
              <a:rPr lang="bg-BG" sz="2300" b="1" dirty="0">
                <a:solidFill>
                  <a:srgbClr val="FFFFFF"/>
                </a:solidFill>
                <a:latin typeface="Segoe UI Semibold" panose="020B0702040204020203" pitchFamily="34" charset="0"/>
              </a:rPr>
              <a:t>Д</a:t>
            </a:r>
          </a:p>
        </p:txBody>
      </p:sp>
      <p:sp>
        <p:nvSpPr>
          <p:cNvPr id="29" name="Text_91">
            <a:extLst>
              <a:ext uri="{FF2B5EF4-FFF2-40B4-BE49-F238E27FC236}">
                <a16:creationId xmlns:a16="http://schemas.microsoft.com/office/drawing/2014/main" id="{59CC37EE-276A-EE34-FC83-B262C2A88100}"/>
              </a:ext>
            </a:extLst>
          </p:cNvPr>
          <p:cNvSpPr txBox="1"/>
          <p:nvPr/>
        </p:nvSpPr>
        <p:spPr>
          <a:xfrm>
            <a:off x="9220200" y="3530599"/>
            <a:ext cx="2209800" cy="469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7000"/>
              </a:lnSpc>
            </a:pPr>
            <a:r>
              <a:rPr lang="bg-BG" sz="2600" b="1">
                <a:solidFill>
                  <a:srgbClr val="173C34"/>
                </a:solidFill>
                <a:latin typeface="Segoe UI Semibold" panose="020B0702040204020203" pitchFamily="34" charset="0"/>
              </a:rPr>
              <a:t>Димитър</a:t>
            </a:r>
            <a:endParaRPr lang="bg-BG" sz="2600" b="1" dirty="0">
              <a:solidFill>
                <a:srgbClr val="173C34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0" name="Text_92">
            <a:extLst>
              <a:ext uri="{FF2B5EF4-FFF2-40B4-BE49-F238E27FC236}">
                <a16:creationId xmlns:a16="http://schemas.microsoft.com/office/drawing/2014/main" id="{0D1237A5-BFD1-0359-D824-D4A280EBBC26}"/>
              </a:ext>
            </a:extLst>
          </p:cNvPr>
          <p:cNvSpPr txBox="1"/>
          <p:nvPr/>
        </p:nvSpPr>
        <p:spPr>
          <a:xfrm>
            <a:off x="9220200" y="4127499"/>
            <a:ext cx="2247900" cy="1193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7000"/>
              </a:lnSpc>
            </a:pPr>
            <a:r>
              <a:rPr lang="bg-BG" sz="1700" i="1" dirty="0">
                <a:solidFill>
                  <a:srgbClr val="223E35"/>
                </a:solidFill>
                <a:latin typeface="Segoe UI" panose="020B0502040204020203" pitchFamily="34" charset="0"/>
              </a:rPr>
              <a:t>Дизайн и проучване</a:t>
            </a:r>
            <a:br>
              <a:rPr lang="en-US" sz="1700" i="1" dirty="0">
                <a:solidFill>
                  <a:srgbClr val="223E35"/>
                </a:solidFill>
                <a:latin typeface="Segoe UI" panose="020B0502040204020203" pitchFamily="34" charset="0"/>
              </a:rPr>
            </a:br>
            <a:r>
              <a:rPr lang="en-US" sz="1700" i="1" dirty="0">
                <a:solidFill>
                  <a:srgbClr val="223E35"/>
                </a:solidFill>
                <a:latin typeface="Segoe UI" panose="020B0502040204020203" pitchFamily="34" charset="0"/>
              </a:rPr>
              <a:t>QA</a:t>
            </a:r>
            <a:endParaRPr lang="bg-BG" sz="1700" i="1" dirty="0">
              <a:solidFill>
                <a:srgbClr val="223E35"/>
              </a:solidFill>
              <a:latin typeface="Segoe UI" panose="020B0502040204020203" pitchFamily="34" charset="0"/>
            </a:endParaRPr>
          </a:p>
        </p:txBody>
      </p:sp>
      <p:sp>
        <p:nvSpPr>
          <p:cNvPr id="31" name="Text_93">
            <a:extLst>
              <a:ext uri="{FF2B5EF4-FFF2-40B4-BE49-F238E27FC236}">
                <a16:creationId xmlns:a16="http://schemas.microsoft.com/office/drawing/2014/main" id="{0D64DEE9-2384-A1EE-74F5-1FDEF7A192B4}"/>
              </a:ext>
            </a:extLst>
          </p:cNvPr>
          <p:cNvSpPr txBox="1"/>
          <p:nvPr/>
        </p:nvSpPr>
        <p:spPr>
          <a:xfrm>
            <a:off x="9220200" y="5448300"/>
            <a:ext cx="762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7000"/>
              </a:lnSpc>
            </a:pPr>
            <a:r>
              <a:rPr lang="bg-BG" sz="900" b="1" dirty="0">
                <a:solidFill>
                  <a:srgbClr val="657268"/>
                </a:solidFill>
                <a:latin typeface="Segoe UI Semibold" panose="020B0702040204020203" pitchFamily="34" charset="0"/>
              </a:rPr>
              <a:t>04 / ДИЗАЙН</a:t>
            </a:r>
          </a:p>
        </p:txBody>
      </p:sp>
    </p:spTree>
    <p:extLst>
      <p:ext uri="{BB962C8B-B14F-4D97-AF65-F5344CB8AC3E}">
        <p14:creationId xmlns:p14="http://schemas.microsoft.com/office/powerpoint/2010/main" val="379033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EBA239-608C-D5D8-4AA7-EE258F1F2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_65">
            <a:extLst>
              <a:ext uri="{FF2B5EF4-FFF2-40B4-BE49-F238E27FC236}">
                <a16:creationId xmlns:a16="http://schemas.microsoft.com/office/drawing/2014/main" id="{7BCD46A2-5279-7BC2-8E81-4AB2728B164A}"/>
              </a:ext>
            </a:extLst>
          </p:cNvPr>
          <p:cNvSpPr txBox="1"/>
          <p:nvPr/>
        </p:nvSpPr>
        <p:spPr>
          <a:xfrm>
            <a:off x="609600" y="558799"/>
            <a:ext cx="54864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7000"/>
              </a:lnSpc>
            </a:pPr>
            <a:r>
              <a:rPr lang="bg-BG" sz="6000" b="1" dirty="0">
                <a:solidFill>
                  <a:srgbClr val="223E35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Проблемът</a:t>
            </a:r>
          </a:p>
        </p:txBody>
      </p:sp>
      <p:cxnSp>
        <p:nvCxnSpPr>
          <p:cNvPr id="5" name="Line_67">
            <a:extLst>
              <a:ext uri="{FF2B5EF4-FFF2-40B4-BE49-F238E27FC236}">
                <a16:creationId xmlns:a16="http://schemas.microsoft.com/office/drawing/2014/main" id="{BF0845BB-84AC-A173-971A-2B347CAF6587}"/>
              </a:ext>
            </a:extLst>
          </p:cNvPr>
          <p:cNvCxnSpPr/>
          <p:nvPr/>
        </p:nvCxnSpPr>
        <p:spPr>
          <a:xfrm>
            <a:off x="609600" y="6299200"/>
            <a:ext cx="10972800" cy="0"/>
          </a:xfrm>
          <a:prstGeom prst="line">
            <a:avLst/>
          </a:prstGeom>
          <a:ln w="10160">
            <a:solidFill>
              <a:srgbClr val="D5DD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_68">
            <a:extLst>
              <a:ext uri="{FF2B5EF4-FFF2-40B4-BE49-F238E27FC236}">
                <a16:creationId xmlns:a16="http://schemas.microsoft.com/office/drawing/2014/main" id="{8968B4AD-57BE-FFEF-C069-60BD43BF9B22}"/>
              </a:ext>
            </a:extLst>
          </p:cNvPr>
          <p:cNvSpPr txBox="1"/>
          <p:nvPr/>
        </p:nvSpPr>
        <p:spPr>
          <a:xfrm>
            <a:off x="609600" y="6451600"/>
            <a:ext cx="54610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7000"/>
              </a:lnSpc>
            </a:pPr>
            <a:r>
              <a:rPr lang="bg-BG" sz="1000">
                <a:solidFill>
                  <a:srgbClr val="657268"/>
                </a:solidFill>
                <a:latin typeface="Segoe UI" panose="020B0502040204020203" pitchFamily="34" charset="0"/>
              </a:rPr>
              <a:t>OPTIMESH  /  КРАСНА ПОЛЯНА</a:t>
            </a:r>
            <a:endParaRPr lang="bg-BG" sz="1000" dirty="0">
              <a:solidFill>
                <a:srgbClr val="657268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Problem_Audience_Question">
            <a:extLst>
              <a:ext uri="{FF2B5EF4-FFF2-40B4-BE49-F238E27FC236}">
                <a16:creationId xmlns:a16="http://schemas.microsoft.com/office/drawing/2014/main" id="{47E263A0-4181-ABA5-9BA6-C439E54A6FCE}"/>
              </a:ext>
            </a:extLst>
          </p:cNvPr>
          <p:cNvSpPr txBox="1"/>
          <p:nvPr/>
        </p:nvSpPr>
        <p:spPr>
          <a:xfrm>
            <a:off x="622300" y="1650998"/>
            <a:ext cx="63881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7000"/>
              </a:lnSpc>
            </a:pPr>
            <a:r>
              <a:rPr lang="bg-BG" sz="2200" dirty="0">
                <a:solidFill>
                  <a:srgbClr val="657268"/>
                </a:solidFill>
                <a:latin typeface="Segoe UI" panose="020B0502040204020203" pitchFamily="34" charset="0"/>
              </a:rPr>
              <a:t>Плащате ли за ток, който не ви е нужен?</a:t>
            </a:r>
          </a:p>
        </p:txBody>
      </p:sp>
      <p:pic>
        <p:nvPicPr>
          <p:cNvPr id="8" name="Problem_Energy_Waste_And_Money_Loss" descr="Празна стая през деня с включена лампа и телевизор; човек с отворен портфейл и падащи монети. Разхищението на електроенергия води до загуба на пари.">
            <a:extLst>
              <a:ext uri="{FF2B5EF4-FFF2-40B4-BE49-F238E27FC236}">
                <a16:creationId xmlns:a16="http://schemas.microsoft.com/office/drawing/2014/main" id="{A874EC9F-71C4-9501-7C61-3F7379011F4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467"/>
          <a:stretch>
            <a:fillRect/>
          </a:stretch>
        </p:blipFill>
        <p:spPr>
          <a:xfrm>
            <a:off x="552450" y="2260597"/>
            <a:ext cx="5670550" cy="3175000"/>
          </a:xfrm>
          <a:prstGeom prst="rect">
            <a:avLst/>
          </a:prstGeom>
        </p:spPr>
      </p:pic>
      <p:sp>
        <p:nvSpPr>
          <p:cNvPr id="9" name="Problem_Waste_Label">
            <a:extLst>
              <a:ext uri="{FF2B5EF4-FFF2-40B4-BE49-F238E27FC236}">
                <a16:creationId xmlns:a16="http://schemas.microsoft.com/office/drawing/2014/main" id="{CFBC0CC5-E950-FE50-5020-DDA42570D9AA}"/>
              </a:ext>
            </a:extLst>
          </p:cNvPr>
          <p:cNvSpPr txBox="1"/>
          <p:nvPr/>
        </p:nvSpPr>
        <p:spPr>
          <a:xfrm>
            <a:off x="-177800" y="5575296"/>
            <a:ext cx="65024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7000"/>
              </a:lnSpc>
            </a:pPr>
            <a:r>
              <a:rPr lang="bg-BG" sz="2500" b="1" dirty="0">
                <a:solidFill>
                  <a:srgbClr val="173C34"/>
                </a:solidFill>
                <a:latin typeface="Segoe UI Semibold" panose="020B0702040204020203" pitchFamily="34" charset="0"/>
              </a:rPr>
              <a:t>Разхищение на ток</a:t>
            </a:r>
          </a:p>
        </p:txBody>
      </p:sp>
      <p:cxnSp>
        <p:nvCxnSpPr>
          <p:cNvPr id="10" name="Line_3">
            <a:extLst>
              <a:ext uri="{FF2B5EF4-FFF2-40B4-BE49-F238E27FC236}">
                <a16:creationId xmlns:a16="http://schemas.microsoft.com/office/drawing/2014/main" id="{827F09AD-474E-1BC3-CD60-D3527C5980C8}"/>
              </a:ext>
            </a:extLst>
          </p:cNvPr>
          <p:cNvCxnSpPr/>
          <p:nvPr/>
        </p:nvCxnSpPr>
        <p:spPr>
          <a:xfrm>
            <a:off x="6223000" y="5816597"/>
            <a:ext cx="787400" cy="0"/>
          </a:xfrm>
          <a:prstGeom prst="line">
            <a:avLst/>
          </a:prstGeom>
          <a:ln w="33020">
            <a:solidFill>
              <a:srgbClr val="4B735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Problem_Money_Label">
            <a:extLst>
              <a:ext uri="{FF2B5EF4-FFF2-40B4-BE49-F238E27FC236}">
                <a16:creationId xmlns:a16="http://schemas.microsoft.com/office/drawing/2014/main" id="{F332ED17-2904-70C6-C033-DADF5DF1905F}"/>
              </a:ext>
            </a:extLst>
          </p:cNvPr>
          <p:cNvSpPr txBox="1"/>
          <p:nvPr/>
        </p:nvSpPr>
        <p:spPr>
          <a:xfrm>
            <a:off x="7086600" y="5575296"/>
            <a:ext cx="37084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7000"/>
              </a:lnSpc>
            </a:pPr>
            <a:r>
              <a:rPr lang="bg-BG" sz="2500" b="1" dirty="0">
                <a:solidFill>
                  <a:srgbClr val="173C34"/>
                </a:solidFill>
                <a:latin typeface="Segoe UI Semibold" panose="020B0702040204020203" pitchFamily="34" charset="0"/>
              </a:rPr>
              <a:t>Загуба на пари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1CCC06F-D172-09AD-6B30-72DFD4692AE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352"/>
          <a:stretch>
            <a:fillRect/>
          </a:stretch>
        </p:blipFill>
        <p:spPr>
          <a:xfrm rot="21327425">
            <a:off x="7186223" y="2692407"/>
            <a:ext cx="3608777" cy="2505066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3484429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7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2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  <p:bldP spid="9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Picture 207" descr="File:Speech bubble.svg - Wikimedia Commons">
            <a:extLst>
              <a:ext uri="{FF2B5EF4-FFF2-40B4-BE49-F238E27FC236}">
                <a16:creationId xmlns:a16="http://schemas.microsoft.com/office/drawing/2014/main" id="{5381AFF6-A7B3-8190-6754-4997E8AFFF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406924">
            <a:off x="1379386" y="1728148"/>
            <a:ext cx="7680780" cy="2422671"/>
          </a:xfrm>
          <a:prstGeom prst="rect">
            <a:avLst/>
          </a:prstGeom>
        </p:spPr>
      </p:pic>
      <p:grpSp>
        <p:nvGrpSpPr>
          <p:cNvPr id="207" name="Group 206">
            <a:extLst>
              <a:ext uri="{FF2B5EF4-FFF2-40B4-BE49-F238E27FC236}">
                <a16:creationId xmlns:a16="http://schemas.microsoft.com/office/drawing/2014/main" id="{BABB487E-13CE-38A9-1561-DC242820CB6B}"/>
              </a:ext>
            </a:extLst>
          </p:cNvPr>
          <p:cNvGrpSpPr/>
          <p:nvPr/>
        </p:nvGrpSpPr>
        <p:grpSpPr>
          <a:xfrm rot="20993379">
            <a:off x="388815" y="2649636"/>
            <a:ext cx="2204499" cy="3094417"/>
            <a:chOff x="481896" y="2794698"/>
            <a:chExt cx="2204499" cy="3094417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5EB880F-FDC3-74D9-C38E-A9200916AF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33600">
              <a:off x="481896" y="2951481"/>
              <a:ext cx="2204499" cy="2937634"/>
            </a:xfrm>
            <a:prstGeom prst="rect">
              <a:avLst/>
            </a:prstGeom>
          </p:spPr>
        </p:pic>
        <p:sp>
          <p:nvSpPr>
            <p:cNvPr id="206" name="Free-form: Shape 205">
              <a:extLst>
                <a:ext uri="{FF2B5EF4-FFF2-40B4-BE49-F238E27FC236}">
                  <a16:creationId xmlns:a16="http://schemas.microsoft.com/office/drawing/2014/main" id="{6AE34F25-0244-CAC4-4C93-922CCADB854C}"/>
                </a:ext>
              </a:extLst>
            </p:cNvPr>
            <p:cNvSpPr/>
            <p:nvPr/>
          </p:nvSpPr>
          <p:spPr>
            <a:xfrm>
              <a:off x="1215928" y="2794698"/>
              <a:ext cx="636452" cy="194194"/>
            </a:xfrm>
            <a:custGeom>
              <a:avLst/>
              <a:gdLst>
                <a:gd name="csX0" fmla="*/ 6608 w 651206"/>
                <a:gd name="csY0" fmla="*/ 73025 h 194194"/>
                <a:gd name="csX1" fmla="*/ 6608 w 651206"/>
                <a:gd name="csY1" fmla="*/ 73025 h 194194"/>
                <a:gd name="csX2" fmla="*/ 38358 w 651206"/>
                <a:gd name="csY2" fmla="*/ 53975 h 194194"/>
                <a:gd name="csX3" fmla="*/ 47883 w 651206"/>
                <a:gd name="csY3" fmla="*/ 44450 h 194194"/>
                <a:gd name="csX4" fmla="*/ 63758 w 651206"/>
                <a:gd name="csY4" fmla="*/ 41275 h 194194"/>
                <a:gd name="csX5" fmla="*/ 101858 w 651206"/>
                <a:gd name="csY5" fmla="*/ 28575 h 194194"/>
                <a:gd name="csX6" fmla="*/ 111383 w 651206"/>
                <a:gd name="csY6" fmla="*/ 25400 h 194194"/>
                <a:gd name="csX7" fmla="*/ 124083 w 651206"/>
                <a:gd name="csY7" fmla="*/ 19050 h 194194"/>
                <a:gd name="csX8" fmla="*/ 162183 w 651206"/>
                <a:gd name="csY8" fmla="*/ 12700 h 194194"/>
                <a:gd name="csX9" fmla="*/ 174883 w 651206"/>
                <a:gd name="csY9" fmla="*/ 9525 h 194194"/>
                <a:gd name="csX10" fmla="*/ 260608 w 651206"/>
                <a:gd name="csY10" fmla="*/ 0 h 194194"/>
                <a:gd name="csX11" fmla="*/ 368558 w 651206"/>
                <a:gd name="csY11" fmla="*/ 3175 h 194194"/>
                <a:gd name="csX12" fmla="*/ 390783 w 651206"/>
                <a:gd name="csY12" fmla="*/ 9525 h 194194"/>
                <a:gd name="csX13" fmla="*/ 403483 w 651206"/>
                <a:gd name="csY13" fmla="*/ 15875 h 194194"/>
                <a:gd name="csX14" fmla="*/ 422533 w 651206"/>
                <a:gd name="csY14" fmla="*/ 22225 h 194194"/>
                <a:gd name="csX15" fmla="*/ 447933 w 651206"/>
                <a:gd name="csY15" fmla="*/ 31750 h 194194"/>
                <a:gd name="csX16" fmla="*/ 476508 w 651206"/>
                <a:gd name="csY16" fmla="*/ 47625 h 194194"/>
                <a:gd name="csX17" fmla="*/ 492383 w 651206"/>
                <a:gd name="csY17" fmla="*/ 53975 h 194194"/>
                <a:gd name="csX18" fmla="*/ 508258 w 651206"/>
                <a:gd name="csY18" fmla="*/ 63500 h 194194"/>
                <a:gd name="csX19" fmla="*/ 533658 w 651206"/>
                <a:gd name="csY19" fmla="*/ 76200 h 194194"/>
                <a:gd name="csX20" fmla="*/ 568583 w 651206"/>
                <a:gd name="csY20" fmla="*/ 98425 h 194194"/>
                <a:gd name="csX21" fmla="*/ 578108 w 651206"/>
                <a:gd name="csY21" fmla="*/ 104775 h 194194"/>
                <a:gd name="csX22" fmla="*/ 606683 w 651206"/>
                <a:gd name="csY22" fmla="*/ 130175 h 194194"/>
                <a:gd name="csX23" fmla="*/ 619383 w 651206"/>
                <a:gd name="csY23" fmla="*/ 139700 h 194194"/>
                <a:gd name="csX24" fmla="*/ 628908 w 651206"/>
                <a:gd name="csY24" fmla="*/ 152400 h 194194"/>
                <a:gd name="csX25" fmla="*/ 647958 w 651206"/>
                <a:gd name="csY25" fmla="*/ 174625 h 194194"/>
                <a:gd name="csX26" fmla="*/ 651133 w 651206"/>
                <a:gd name="csY26" fmla="*/ 184150 h 194194"/>
                <a:gd name="csX27" fmla="*/ 644783 w 651206"/>
                <a:gd name="csY27" fmla="*/ 193675 h 194194"/>
                <a:gd name="csX28" fmla="*/ 571758 w 651206"/>
                <a:gd name="csY28" fmla="*/ 190500 h 194194"/>
                <a:gd name="csX29" fmla="*/ 517783 w 651206"/>
                <a:gd name="csY29" fmla="*/ 184150 h 194194"/>
                <a:gd name="csX30" fmla="*/ 508258 w 651206"/>
                <a:gd name="csY30" fmla="*/ 180975 h 194194"/>
                <a:gd name="csX31" fmla="*/ 495558 w 651206"/>
                <a:gd name="csY31" fmla="*/ 177800 h 194194"/>
                <a:gd name="csX32" fmla="*/ 476508 w 651206"/>
                <a:gd name="csY32" fmla="*/ 174625 h 194194"/>
                <a:gd name="csX33" fmla="*/ 460633 w 651206"/>
                <a:gd name="csY33" fmla="*/ 171450 h 194194"/>
                <a:gd name="csX34" fmla="*/ 435233 w 651206"/>
                <a:gd name="csY34" fmla="*/ 168275 h 194194"/>
                <a:gd name="csX35" fmla="*/ 422533 w 651206"/>
                <a:gd name="csY35" fmla="*/ 165100 h 194194"/>
                <a:gd name="csX36" fmla="*/ 400308 w 651206"/>
                <a:gd name="csY36" fmla="*/ 161925 h 194194"/>
                <a:gd name="csX37" fmla="*/ 387608 w 651206"/>
                <a:gd name="csY37" fmla="*/ 158750 h 194194"/>
                <a:gd name="csX38" fmla="*/ 346333 w 651206"/>
                <a:gd name="csY38" fmla="*/ 152400 h 194194"/>
                <a:gd name="csX39" fmla="*/ 333633 w 651206"/>
                <a:gd name="csY39" fmla="*/ 149225 h 194194"/>
                <a:gd name="csX40" fmla="*/ 305058 w 651206"/>
                <a:gd name="csY40" fmla="*/ 146050 h 194194"/>
                <a:gd name="csX41" fmla="*/ 289183 w 651206"/>
                <a:gd name="csY41" fmla="*/ 142875 h 194194"/>
                <a:gd name="csX42" fmla="*/ 244733 w 651206"/>
                <a:gd name="csY42" fmla="*/ 136525 h 194194"/>
                <a:gd name="csX43" fmla="*/ 184408 w 651206"/>
                <a:gd name="csY43" fmla="*/ 133350 h 194194"/>
                <a:gd name="csX44" fmla="*/ 120908 w 651206"/>
                <a:gd name="csY44" fmla="*/ 127000 h 194194"/>
                <a:gd name="csX45" fmla="*/ 28833 w 651206"/>
                <a:gd name="csY45" fmla="*/ 120650 h 194194"/>
                <a:gd name="csX46" fmla="*/ 19308 w 651206"/>
                <a:gd name="csY46" fmla="*/ 117475 h 194194"/>
                <a:gd name="csX47" fmla="*/ 258 w 651206"/>
                <a:gd name="csY47" fmla="*/ 98425 h 194194"/>
                <a:gd name="csX48" fmla="*/ 6608 w 651206"/>
                <a:gd name="csY48" fmla="*/ 73025 h 1941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</a:cxnLst>
              <a:rect l="l" t="t" r="r" b="b"/>
              <a:pathLst>
                <a:path w="651206" h="194194">
                  <a:moveTo>
                    <a:pt x="6608" y="73025"/>
                  </a:moveTo>
                  <a:lnTo>
                    <a:pt x="6608" y="73025"/>
                  </a:lnTo>
                  <a:cubicBezTo>
                    <a:pt x="17191" y="66675"/>
                    <a:pt x="28210" y="61000"/>
                    <a:pt x="38358" y="53975"/>
                  </a:cubicBezTo>
                  <a:cubicBezTo>
                    <a:pt x="42050" y="51419"/>
                    <a:pt x="43867" y="46458"/>
                    <a:pt x="47883" y="44450"/>
                  </a:cubicBezTo>
                  <a:cubicBezTo>
                    <a:pt x="52710" y="42037"/>
                    <a:pt x="58466" y="42333"/>
                    <a:pt x="63758" y="41275"/>
                  </a:cubicBezTo>
                  <a:cubicBezTo>
                    <a:pt x="92397" y="26956"/>
                    <a:pt x="56870" y="43571"/>
                    <a:pt x="101858" y="28575"/>
                  </a:cubicBezTo>
                  <a:cubicBezTo>
                    <a:pt x="105033" y="27517"/>
                    <a:pt x="108307" y="26718"/>
                    <a:pt x="111383" y="25400"/>
                  </a:cubicBezTo>
                  <a:cubicBezTo>
                    <a:pt x="115733" y="23536"/>
                    <a:pt x="119593" y="20547"/>
                    <a:pt x="124083" y="19050"/>
                  </a:cubicBezTo>
                  <a:cubicBezTo>
                    <a:pt x="131980" y="16418"/>
                    <a:pt x="155855" y="13851"/>
                    <a:pt x="162183" y="12700"/>
                  </a:cubicBezTo>
                  <a:cubicBezTo>
                    <a:pt x="166476" y="11919"/>
                    <a:pt x="170568" y="10172"/>
                    <a:pt x="174883" y="9525"/>
                  </a:cubicBezTo>
                  <a:cubicBezTo>
                    <a:pt x="210883" y="4125"/>
                    <a:pt x="226772" y="3076"/>
                    <a:pt x="260608" y="0"/>
                  </a:cubicBezTo>
                  <a:cubicBezTo>
                    <a:pt x="296591" y="1058"/>
                    <a:pt x="332609" y="1283"/>
                    <a:pt x="368558" y="3175"/>
                  </a:cubicBezTo>
                  <a:cubicBezTo>
                    <a:pt x="371619" y="3336"/>
                    <a:pt x="387001" y="7904"/>
                    <a:pt x="390783" y="9525"/>
                  </a:cubicBezTo>
                  <a:cubicBezTo>
                    <a:pt x="395133" y="11389"/>
                    <a:pt x="399089" y="14117"/>
                    <a:pt x="403483" y="15875"/>
                  </a:cubicBezTo>
                  <a:cubicBezTo>
                    <a:pt x="409698" y="18361"/>
                    <a:pt x="416183" y="20108"/>
                    <a:pt x="422533" y="22225"/>
                  </a:cubicBezTo>
                  <a:cubicBezTo>
                    <a:pt x="433006" y="25716"/>
                    <a:pt x="436544" y="26688"/>
                    <a:pt x="447933" y="31750"/>
                  </a:cubicBezTo>
                  <a:cubicBezTo>
                    <a:pt x="475452" y="43981"/>
                    <a:pt x="444450" y="31596"/>
                    <a:pt x="476508" y="47625"/>
                  </a:cubicBezTo>
                  <a:cubicBezTo>
                    <a:pt x="481606" y="50174"/>
                    <a:pt x="487285" y="51426"/>
                    <a:pt x="492383" y="53975"/>
                  </a:cubicBezTo>
                  <a:cubicBezTo>
                    <a:pt x="497903" y="56735"/>
                    <a:pt x="502825" y="60574"/>
                    <a:pt x="508258" y="63500"/>
                  </a:cubicBezTo>
                  <a:cubicBezTo>
                    <a:pt x="516593" y="67988"/>
                    <a:pt x="525541" y="71330"/>
                    <a:pt x="533658" y="76200"/>
                  </a:cubicBezTo>
                  <a:cubicBezTo>
                    <a:pt x="556077" y="89652"/>
                    <a:pt x="544398" y="82302"/>
                    <a:pt x="568583" y="98425"/>
                  </a:cubicBezTo>
                  <a:cubicBezTo>
                    <a:pt x="571758" y="100542"/>
                    <a:pt x="575128" y="102391"/>
                    <a:pt x="578108" y="104775"/>
                  </a:cubicBezTo>
                  <a:cubicBezTo>
                    <a:pt x="631657" y="147614"/>
                    <a:pt x="560038" y="89361"/>
                    <a:pt x="606683" y="130175"/>
                  </a:cubicBezTo>
                  <a:cubicBezTo>
                    <a:pt x="610665" y="133660"/>
                    <a:pt x="615641" y="135958"/>
                    <a:pt x="619383" y="139700"/>
                  </a:cubicBezTo>
                  <a:cubicBezTo>
                    <a:pt x="623125" y="143442"/>
                    <a:pt x="625464" y="148382"/>
                    <a:pt x="628908" y="152400"/>
                  </a:cubicBezTo>
                  <a:cubicBezTo>
                    <a:pt x="655442" y="183356"/>
                    <a:pt x="620104" y="137486"/>
                    <a:pt x="647958" y="174625"/>
                  </a:cubicBezTo>
                  <a:cubicBezTo>
                    <a:pt x="649016" y="177800"/>
                    <a:pt x="651683" y="180849"/>
                    <a:pt x="651133" y="184150"/>
                  </a:cubicBezTo>
                  <a:cubicBezTo>
                    <a:pt x="650506" y="187914"/>
                    <a:pt x="648587" y="193371"/>
                    <a:pt x="644783" y="193675"/>
                  </a:cubicBezTo>
                  <a:cubicBezTo>
                    <a:pt x="620496" y="195618"/>
                    <a:pt x="596100" y="191558"/>
                    <a:pt x="571758" y="190500"/>
                  </a:cubicBezTo>
                  <a:lnTo>
                    <a:pt x="517783" y="184150"/>
                  </a:lnTo>
                  <a:cubicBezTo>
                    <a:pt x="514490" y="183551"/>
                    <a:pt x="511476" y="181894"/>
                    <a:pt x="508258" y="180975"/>
                  </a:cubicBezTo>
                  <a:cubicBezTo>
                    <a:pt x="504062" y="179776"/>
                    <a:pt x="499837" y="178656"/>
                    <a:pt x="495558" y="177800"/>
                  </a:cubicBezTo>
                  <a:cubicBezTo>
                    <a:pt x="489245" y="176537"/>
                    <a:pt x="482842" y="175777"/>
                    <a:pt x="476508" y="174625"/>
                  </a:cubicBezTo>
                  <a:cubicBezTo>
                    <a:pt x="471199" y="173660"/>
                    <a:pt x="465967" y="172271"/>
                    <a:pt x="460633" y="171450"/>
                  </a:cubicBezTo>
                  <a:cubicBezTo>
                    <a:pt x="452200" y="170153"/>
                    <a:pt x="443649" y="169678"/>
                    <a:pt x="435233" y="168275"/>
                  </a:cubicBezTo>
                  <a:cubicBezTo>
                    <a:pt x="430929" y="167558"/>
                    <a:pt x="426826" y="165881"/>
                    <a:pt x="422533" y="165100"/>
                  </a:cubicBezTo>
                  <a:cubicBezTo>
                    <a:pt x="415170" y="163761"/>
                    <a:pt x="407671" y="163264"/>
                    <a:pt x="400308" y="161925"/>
                  </a:cubicBezTo>
                  <a:cubicBezTo>
                    <a:pt x="396015" y="161144"/>
                    <a:pt x="391887" y="159606"/>
                    <a:pt x="387608" y="158750"/>
                  </a:cubicBezTo>
                  <a:cubicBezTo>
                    <a:pt x="356918" y="152612"/>
                    <a:pt x="379881" y="158500"/>
                    <a:pt x="346333" y="152400"/>
                  </a:cubicBezTo>
                  <a:cubicBezTo>
                    <a:pt x="342040" y="151619"/>
                    <a:pt x="337946" y="149889"/>
                    <a:pt x="333633" y="149225"/>
                  </a:cubicBezTo>
                  <a:cubicBezTo>
                    <a:pt x="324161" y="147768"/>
                    <a:pt x="314545" y="147405"/>
                    <a:pt x="305058" y="146050"/>
                  </a:cubicBezTo>
                  <a:cubicBezTo>
                    <a:pt x="299716" y="145287"/>
                    <a:pt x="294492" y="143840"/>
                    <a:pt x="289183" y="142875"/>
                  </a:cubicBezTo>
                  <a:cubicBezTo>
                    <a:pt x="276915" y="140644"/>
                    <a:pt x="256377" y="137387"/>
                    <a:pt x="244733" y="136525"/>
                  </a:cubicBezTo>
                  <a:cubicBezTo>
                    <a:pt x="224652" y="135038"/>
                    <a:pt x="204516" y="134408"/>
                    <a:pt x="184408" y="133350"/>
                  </a:cubicBezTo>
                  <a:cubicBezTo>
                    <a:pt x="152480" y="129359"/>
                    <a:pt x="158373" y="129741"/>
                    <a:pt x="120908" y="127000"/>
                  </a:cubicBezTo>
                  <a:lnTo>
                    <a:pt x="28833" y="120650"/>
                  </a:lnTo>
                  <a:cubicBezTo>
                    <a:pt x="25658" y="119592"/>
                    <a:pt x="22301" y="118972"/>
                    <a:pt x="19308" y="117475"/>
                  </a:cubicBezTo>
                  <a:cubicBezTo>
                    <a:pt x="11988" y="113815"/>
                    <a:pt x="2909" y="106377"/>
                    <a:pt x="258" y="98425"/>
                  </a:cubicBezTo>
                  <a:cubicBezTo>
                    <a:pt x="-1415" y="93405"/>
                    <a:pt x="5550" y="77258"/>
                    <a:pt x="6608" y="7302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1" name="Picture 60">
            <a:extLst>
              <a:ext uri="{FF2B5EF4-FFF2-40B4-BE49-F238E27FC236}">
                <a16:creationId xmlns:a16="http://schemas.microsoft.com/office/drawing/2014/main" id="{2741A5CB-680D-5C07-D827-4A29E94FF0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4925" y="3168419"/>
            <a:ext cx="4227232" cy="3706779"/>
          </a:xfrm>
          <a:prstGeom prst="rect">
            <a:avLst/>
          </a:prstGeom>
        </p:spPr>
      </p:pic>
      <p:sp>
        <p:nvSpPr>
          <p:cNvPr id="4" name="Text_96">
            <a:extLst>
              <a:ext uri="{FF2B5EF4-FFF2-40B4-BE49-F238E27FC236}">
                <a16:creationId xmlns:a16="http://schemas.microsoft.com/office/drawing/2014/main" id="{15AFD1BB-493C-EE3F-562D-004A365D7241}"/>
              </a:ext>
            </a:extLst>
          </p:cNvPr>
          <p:cNvSpPr txBox="1"/>
          <p:nvPr/>
        </p:nvSpPr>
        <p:spPr>
          <a:xfrm>
            <a:off x="1353538" y="227489"/>
            <a:ext cx="9360569" cy="111419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7000"/>
              </a:lnSpc>
            </a:pPr>
            <a:r>
              <a:rPr lang="bg-BG" sz="3200" b="1" dirty="0">
                <a:solidFill>
                  <a:srgbClr val="4F5951"/>
                </a:solidFill>
                <a:latin typeface="Segoe UI" panose="020B0502040204020203" pitchFamily="34" charset="0"/>
              </a:rPr>
              <a:t>Потребителят задава крайния срок</a:t>
            </a:r>
            <a:r>
              <a:rPr lang="de-DE" sz="3200" b="1" dirty="0">
                <a:solidFill>
                  <a:srgbClr val="4F5951"/>
                </a:solidFill>
                <a:latin typeface="Segoe UI" panose="020B0502040204020203" pitchFamily="34" charset="0"/>
              </a:rPr>
              <a:t> </a:t>
            </a:r>
            <a:r>
              <a:rPr lang="en-US" sz="3200" b="1" dirty="0">
                <a:solidFill>
                  <a:srgbClr val="4F5951"/>
                </a:solidFill>
                <a:latin typeface="Segoe UI" panose="020B0502040204020203" pitchFamily="34" charset="0"/>
                <a:sym typeface="Wingdings" panose="05000000000000000000" pitchFamily="2" charset="2"/>
              </a:rPr>
              <a:t></a:t>
            </a:r>
            <a:br>
              <a:rPr lang="en-US" sz="3200" b="1" dirty="0">
                <a:solidFill>
                  <a:srgbClr val="4F5951"/>
                </a:solidFill>
                <a:latin typeface="Segoe UI" panose="020B0502040204020203" pitchFamily="34" charset="0"/>
                <a:sym typeface="Wingdings" panose="05000000000000000000" pitchFamily="2" charset="2"/>
              </a:rPr>
            </a:br>
            <a:r>
              <a:rPr lang="bg-BG" sz="3200" b="1" dirty="0" err="1">
                <a:solidFill>
                  <a:srgbClr val="4F5951"/>
                </a:solidFill>
                <a:latin typeface="Segoe UI" panose="020B0502040204020203" pitchFamily="34" charset="0"/>
              </a:rPr>
              <a:t>OptiMesh</a:t>
            </a:r>
            <a:r>
              <a:rPr lang="bg-BG" sz="3200" b="1" dirty="0">
                <a:solidFill>
                  <a:srgbClr val="4F5951"/>
                </a:solidFill>
                <a:latin typeface="Segoe UI" panose="020B0502040204020203" pitchFamily="34" charset="0"/>
              </a:rPr>
              <a:t> планира кога</a:t>
            </a:r>
            <a:r>
              <a:rPr lang="en-US" sz="3200" b="1" dirty="0">
                <a:solidFill>
                  <a:srgbClr val="4F5951"/>
                </a:solidFill>
                <a:latin typeface="Segoe UI" panose="020B0502040204020203" pitchFamily="34" charset="0"/>
              </a:rPr>
              <a:t> </a:t>
            </a:r>
            <a:r>
              <a:rPr lang="bg-BG" sz="3200" b="1" dirty="0">
                <a:solidFill>
                  <a:srgbClr val="4F5951"/>
                </a:solidFill>
                <a:latin typeface="Segoe UI" panose="020B0502040204020203" pitchFamily="34" charset="0"/>
              </a:rPr>
              <a:t>да се изпълни</a:t>
            </a:r>
          </a:p>
        </p:txBody>
      </p:sp>
      <p:cxnSp>
        <p:nvCxnSpPr>
          <p:cNvPr id="5" name="Line_97">
            <a:extLst>
              <a:ext uri="{FF2B5EF4-FFF2-40B4-BE49-F238E27FC236}">
                <a16:creationId xmlns:a16="http://schemas.microsoft.com/office/drawing/2014/main" id="{84DB7BA7-F7AF-48A2-DBC7-B079C60357A8}"/>
              </a:ext>
            </a:extLst>
          </p:cNvPr>
          <p:cNvCxnSpPr/>
          <p:nvPr/>
        </p:nvCxnSpPr>
        <p:spPr>
          <a:xfrm>
            <a:off x="609600" y="6299200"/>
            <a:ext cx="10972800" cy="0"/>
          </a:xfrm>
          <a:prstGeom prst="line">
            <a:avLst/>
          </a:prstGeom>
          <a:ln w="10160">
            <a:solidFill>
              <a:srgbClr val="D5DD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_98">
            <a:extLst>
              <a:ext uri="{FF2B5EF4-FFF2-40B4-BE49-F238E27FC236}">
                <a16:creationId xmlns:a16="http://schemas.microsoft.com/office/drawing/2014/main" id="{5C2A2D3C-4F57-0479-1B13-8EE440D27238}"/>
              </a:ext>
            </a:extLst>
          </p:cNvPr>
          <p:cNvSpPr txBox="1"/>
          <p:nvPr/>
        </p:nvSpPr>
        <p:spPr>
          <a:xfrm>
            <a:off x="609600" y="6451600"/>
            <a:ext cx="54610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7000"/>
              </a:lnSpc>
            </a:pPr>
            <a:r>
              <a:rPr lang="bg-BG" sz="1000">
                <a:solidFill>
                  <a:srgbClr val="657268"/>
                </a:solidFill>
                <a:latin typeface="Segoe UI" panose="020B0502040204020203" pitchFamily="34" charset="0"/>
              </a:rPr>
              <a:t>OPTIMESH  /  КРАСНА ПОЛЯНА</a:t>
            </a:r>
            <a:endParaRPr lang="bg-BG" sz="1000" dirty="0">
              <a:solidFill>
                <a:srgbClr val="657268"/>
              </a:solidFill>
              <a:latin typeface="Segoe UI" panose="020B0502040204020203" pitchFamily="34" charset="0"/>
            </a:endParaRPr>
          </a:p>
        </p:txBody>
      </p:sp>
      <p:sp>
        <p:nvSpPr>
          <p:cNvPr id="38" name="Text_130">
            <a:extLst>
              <a:ext uri="{FF2B5EF4-FFF2-40B4-BE49-F238E27FC236}">
                <a16:creationId xmlns:a16="http://schemas.microsoft.com/office/drawing/2014/main" id="{C7359020-5323-1921-D330-75DAE42876FA}"/>
              </a:ext>
            </a:extLst>
          </p:cNvPr>
          <p:cNvSpPr txBox="1"/>
          <p:nvPr/>
        </p:nvSpPr>
        <p:spPr>
          <a:xfrm rot="463150">
            <a:off x="2464955" y="2288617"/>
            <a:ext cx="6162851" cy="12459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7000"/>
              </a:lnSpc>
            </a:pPr>
            <a:r>
              <a:rPr lang="bg-BG" sz="3800" b="1" dirty="0">
                <a:solidFill>
                  <a:srgbClr val="173C34"/>
                </a:solidFill>
                <a:latin typeface="Segoe UI Semibold" panose="020B0702040204020203" pitchFamily="34" charset="0"/>
              </a:rPr>
              <a:t>Зареди автомобила</a:t>
            </a:r>
            <a:r>
              <a:rPr lang="en-US" sz="3800" b="1" dirty="0">
                <a:solidFill>
                  <a:srgbClr val="173C34"/>
                </a:solidFill>
                <a:latin typeface="Segoe UI Semibold" panose="020B0702040204020203" pitchFamily="34" charset="0"/>
              </a:rPr>
              <a:t> </a:t>
            </a:r>
            <a:r>
              <a:rPr lang="bg-BG" sz="3800" b="1" dirty="0">
                <a:solidFill>
                  <a:srgbClr val="173C34"/>
                </a:solidFill>
                <a:latin typeface="Segoe UI Semibold" panose="020B0702040204020203" pitchFamily="34" charset="0"/>
              </a:rPr>
              <a:t>до 20:00</a:t>
            </a:r>
            <a:r>
              <a:rPr lang="en-US" sz="3800" b="1" i="1" dirty="0">
                <a:solidFill>
                  <a:srgbClr val="173C34"/>
                </a:solidFill>
                <a:latin typeface="Segoe UI Semibold" panose="020B0702040204020203" pitchFamily="34" charset="0"/>
              </a:rPr>
              <a:t>!!!</a:t>
            </a:r>
            <a:endParaRPr lang="bg-BG" sz="3800" b="1" i="1" dirty="0">
              <a:solidFill>
                <a:srgbClr val="173C34"/>
              </a:solidFill>
              <a:latin typeface="Segoe UI Semibold" panose="020B0702040204020203" pitchFamily="34" charset="0"/>
            </a:endParaRPr>
          </a:p>
        </p:txBody>
      </p: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A433B6AE-CF54-A406-0FB7-36F89EF11B2F}"/>
              </a:ext>
            </a:extLst>
          </p:cNvPr>
          <p:cNvGrpSpPr/>
          <p:nvPr/>
        </p:nvGrpSpPr>
        <p:grpSpPr>
          <a:xfrm>
            <a:off x="2064262" y="1494084"/>
            <a:ext cx="7880964" cy="4488544"/>
            <a:chOff x="774700" y="2425700"/>
            <a:chExt cx="6483666" cy="3276599"/>
          </a:xfrm>
        </p:grpSpPr>
        <p:sp>
          <p:nvSpPr>
            <p:cNvPr id="154" name="Vector_100">
              <a:extLst>
                <a:ext uri="{FF2B5EF4-FFF2-40B4-BE49-F238E27FC236}">
                  <a16:creationId xmlns:a16="http://schemas.microsoft.com/office/drawing/2014/main" id="{4FBE24E7-A216-A7E5-1608-BA357DAF20BA}"/>
                </a:ext>
              </a:extLst>
            </p:cNvPr>
            <p:cNvSpPr/>
            <p:nvPr/>
          </p:nvSpPr>
          <p:spPr>
            <a:xfrm>
              <a:off x="825499" y="2425700"/>
              <a:ext cx="6432867" cy="3276599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Text_101">
              <a:extLst>
                <a:ext uri="{FF2B5EF4-FFF2-40B4-BE49-F238E27FC236}">
                  <a16:creationId xmlns:a16="http://schemas.microsoft.com/office/drawing/2014/main" id="{94F1176E-4DB9-52D6-0FFC-29462FAA6560}"/>
                </a:ext>
              </a:extLst>
            </p:cNvPr>
            <p:cNvSpPr txBox="1"/>
            <p:nvPr/>
          </p:nvSpPr>
          <p:spPr>
            <a:xfrm>
              <a:off x="2705100" y="2577496"/>
              <a:ext cx="2344965" cy="304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07000"/>
                </a:lnSpc>
              </a:pPr>
              <a:r>
                <a:rPr lang="bg-BG" sz="1600" b="1" dirty="0">
                  <a:solidFill>
                    <a:srgbClr val="4B7355"/>
                  </a:solidFill>
                  <a:latin typeface="Segoe UI Semibold" panose="020B0702040204020203" pitchFamily="34" charset="0"/>
                </a:rPr>
                <a:t>Слънчева енергия през деня</a:t>
              </a:r>
            </a:p>
          </p:txBody>
        </p:sp>
        <p:sp>
          <p:nvSpPr>
            <p:cNvPr id="156" name="Vector_102">
              <a:extLst>
                <a:ext uri="{FF2B5EF4-FFF2-40B4-BE49-F238E27FC236}">
                  <a16:creationId xmlns:a16="http://schemas.microsoft.com/office/drawing/2014/main" id="{11D43207-B237-778E-4A5F-8C848191E6F4}"/>
                </a:ext>
              </a:extLst>
            </p:cNvPr>
            <p:cNvSpPr/>
            <p:nvPr/>
          </p:nvSpPr>
          <p:spPr>
            <a:xfrm>
              <a:off x="2997200" y="3035300"/>
              <a:ext cx="1422400" cy="1968500"/>
            </a:xfrm>
            <a:prstGeom prst="rect">
              <a:avLst/>
            </a:prstGeom>
            <a:solidFill>
              <a:srgbClr val="E8EDDA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7" name="Line_103">
              <a:extLst>
                <a:ext uri="{FF2B5EF4-FFF2-40B4-BE49-F238E27FC236}">
                  <a16:creationId xmlns:a16="http://schemas.microsoft.com/office/drawing/2014/main" id="{1680C6CD-5CE0-3F1D-B2DC-6DDDCAA57F49}"/>
                </a:ext>
              </a:extLst>
            </p:cNvPr>
            <p:cNvCxnSpPr/>
            <p:nvPr/>
          </p:nvCxnSpPr>
          <p:spPr>
            <a:xfrm flipV="1">
              <a:off x="1092200" y="4051300"/>
              <a:ext cx="965200" cy="533400"/>
            </a:xfrm>
            <a:prstGeom prst="line">
              <a:avLst/>
            </a:prstGeom>
            <a:ln w="38100">
              <a:solidFill>
                <a:srgbClr val="4B735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Line_104">
              <a:extLst>
                <a:ext uri="{FF2B5EF4-FFF2-40B4-BE49-F238E27FC236}">
                  <a16:creationId xmlns:a16="http://schemas.microsoft.com/office/drawing/2014/main" id="{51FD528F-B942-67D9-69EE-387D0F4FEF59}"/>
                </a:ext>
              </a:extLst>
            </p:cNvPr>
            <p:cNvCxnSpPr/>
            <p:nvPr/>
          </p:nvCxnSpPr>
          <p:spPr>
            <a:xfrm flipV="1">
              <a:off x="2057400" y="3390900"/>
              <a:ext cx="965200" cy="660400"/>
            </a:xfrm>
            <a:prstGeom prst="line">
              <a:avLst/>
            </a:prstGeom>
            <a:ln w="38100">
              <a:solidFill>
                <a:srgbClr val="4B735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Line_105">
              <a:extLst>
                <a:ext uri="{FF2B5EF4-FFF2-40B4-BE49-F238E27FC236}">
                  <a16:creationId xmlns:a16="http://schemas.microsoft.com/office/drawing/2014/main" id="{919D4BA0-3E84-12E3-490A-03F214D03130}"/>
                </a:ext>
              </a:extLst>
            </p:cNvPr>
            <p:cNvCxnSpPr/>
            <p:nvPr/>
          </p:nvCxnSpPr>
          <p:spPr>
            <a:xfrm flipV="1">
              <a:off x="3022600" y="3111500"/>
              <a:ext cx="965200" cy="279400"/>
            </a:xfrm>
            <a:prstGeom prst="line">
              <a:avLst/>
            </a:prstGeom>
            <a:ln w="38100">
              <a:solidFill>
                <a:srgbClr val="4B735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Line_106">
              <a:extLst>
                <a:ext uri="{FF2B5EF4-FFF2-40B4-BE49-F238E27FC236}">
                  <a16:creationId xmlns:a16="http://schemas.microsoft.com/office/drawing/2014/main" id="{216AAF6C-567D-ABC1-8B34-A026C2C4D3CD}"/>
                </a:ext>
              </a:extLst>
            </p:cNvPr>
            <p:cNvCxnSpPr/>
            <p:nvPr/>
          </p:nvCxnSpPr>
          <p:spPr>
            <a:xfrm>
              <a:off x="3987800" y="3111500"/>
              <a:ext cx="965200" cy="520700"/>
            </a:xfrm>
            <a:prstGeom prst="line">
              <a:avLst/>
            </a:prstGeom>
            <a:ln w="38100">
              <a:solidFill>
                <a:srgbClr val="4B735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Line_107">
              <a:extLst>
                <a:ext uri="{FF2B5EF4-FFF2-40B4-BE49-F238E27FC236}">
                  <a16:creationId xmlns:a16="http://schemas.microsoft.com/office/drawing/2014/main" id="{266DBD69-573E-71DE-D13F-04BBEA71D341}"/>
                </a:ext>
              </a:extLst>
            </p:cNvPr>
            <p:cNvCxnSpPr/>
            <p:nvPr/>
          </p:nvCxnSpPr>
          <p:spPr>
            <a:xfrm>
              <a:off x="4953000" y="3632200"/>
              <a:ext cx="965200" cy="609600"/>
            </a:xfrm>
            <a:prstGeom prst="line">
              <a:avLst/>
            </a:prstGeom>
            <a:ln w="38100">
              <a:solidFill>
                <a:srgbClr val="4B735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Line_108">
              <a:extLst>
                <a:ext uri="{FF2B5EF4-FFF2-40B4-BE49-F238E27FC236}">
                  <a16:creationId xmlns:a16="http://schemas.microsoft.com/office/drawing/2014/main" id="{BBC0AA5A-9A27-CE0C-2C0A-9E56E8CA48A1}"/>
                </a:ext>
              </a:extLst>
            </p:cNvPr>
            <p:cNvCxnSpPr/>
            <p:nvPr/>
          </p:nvCxnSpPr>
          <p:spPr>
            <a:xfrm>
              <a:off x="5918200" y="4241800"/>
              <a:ext cx="965200" cy="457200"/>
            </a:xfrm>
            <a:prstGeom prst="line">
              <a:avLst/>
            </a:prstGeom>
            <a:ln w="38100">
              <a:solidFill>
                <a:srgbClr val="4B735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Vector_109">
              <a:extLst>
                <a:ext uri="{FF2B5EF4-FFF2-40B4-BE49-F238E27FC236}">
                  <a16:creationId xmlns:a16="http://schemas.microsoft.com/office/drawing/2014/main" id="{AF21EB9C-F3B4-3069-AE45-28B5562AFA8C}"/>
                </a:ext>
              </a:extLst>
            </p:cNvPr>
            <p:cNvSpPr/>
            <p:nvPr/>
          </p:nvSpPr>
          <p:spPr>
            <a:xfrm>
              <a:off x="1054100" y="4546600"/>
              <a:ext cx="76200" cy="76200"/>
            </a:xfrm>
            <a:prstGeom prst="ellipse">
              <a:avLst/>
            </a:prstGeom>
            <a:solidFill>
              <a:srgbClr val="4B7355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Vector_110">
              <a:extLst>
                <a:ext uri="{FF2B5EF4-FFF2-40B4-BE49-F238E27FC236}">
                  <a16:creationId xmlns:a16="http://schemas.microsoft.com/office/drawing/2014/main" id="{CE780234-9DF2-53F8-A0CB-D724FED11505}"/>
                </a:ext>
              </a:extLst>
            </p:cNvPr>
            <p:cNvSpPr/>
            <p:nvPr/>
          </p:nvSpPr>
          <p:spPr>
            <a:xfrm>
              <a:off x="2019300" y="4013200"/>
              <a:ext cx="76200" cy="76200"/>
            </a:xfrm>
            <a:prstGeom prst="ellipse">
              <a:avLst/>
            </a:prstGeom>
            <a:solidFill>
              <a:srgbClr val="4B7355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Vector_111">
              <a:extLst>
                <a:ext uri="{FF2B5EF4-FFF2-40B4-BE49-F238E27FC236}">
                  <a16:creationId xmlns:a16="http://schemas.microsoft.com/office/drawing/2014/main" id="{296B4B57-5F29-F6B3-DBAA-A39D655683AF}"/>
                </a:ext>
              </a:extLst>
            </p:cNvPr>
            <p:cNvSpPr/>
            <p:nvPr/>
          </p:nvSpPr>
          <p:spPr>
            <a:xfrm>
              <a:off x="2984500" y="3352800"/>
              <a:ext cx="76200" cy="76200"/>
            </a:xfrm>
            <a:prstGeom prst="ellipse">
              <a:avLst/>
            </a:prstGeom>
            <a:solidFill>
              <a:srgbClr val="4B7355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Vector_112">
              <a:extLst>
                <a:ext uri="{FF2B5EF4-FFF2-40B4-BE49-F238E27FC236}">
                  <a16:creationId xmlns:a16="http://schemas.microsoft.com/office/drawing/2014/main" id="{6F33AB03-5FBD-1DB4-61E0-6BDC7342BFB1}"/>
                </a:ext>
              </a:extLst>
            </p:cNvPr>
            <p:cNvSpPr/>
            <p:nvPr/>
          </p:nvSpPr>
          <p:spPr>
            <a:xfrm>
              <a:off x="3949700" y="3073400"/>
              <a:ext cx="76200" cy="76200"/>
            </a:xfrm>
            <a:prstGeom prst="ellipse">
              <a:avLst/>
            </a:prstGeom>
            <a:solidFill>
              <a:srgbClr val="4B7355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Vector_113">
              <a:extLst>
                <a:ext uri="{FF2B5EF4-FFF2-40B4-BE49-F238E27FC236}">
                  <a16:creationId xmlns:a16="http://schemas.microsoft.com/office/drawing/2014/main" id="{5C14B324-9473-FAD6-A25D-3A4F2ADADD95}"/>
                </a:ext>
              </a:extLst>
            </p:cNvPr>
            <p:cNvSpPr/>
            <p:nvPr/>
          </p:nvSpPr>
          <p:spPr>
            <a:xfrm>
              <a:off x="4914900" y="3594100"/>
              <a:ext cx="76200" cy="76200"/>
            </a:xfrm>
            <a:prstGeom prst="ellipse">
              <a:avLst/>
            </a:prstGeom>
            <a:solidFill>
              <a:srgbClr val="4B7355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Vector_114">
              <a:extLst>
                <a:ext uri="{FF2B5EF4-FFF2-40B4-BE49-F238E27FC236}">
                  <a16:creationId xmlns:a16="http://schemas.microsoft.com/office/drawing/2014/main" id="{D7D5CB70-2EEE-86E8-D06E-FF37057A12D8}"/>
                </a:ext>
              </a:extLst>
            </p:cNvPr>
            <p:cNvSpPr/>
            <p:nvPr/>
          </p:nvSpPr>
          <p:spPr>
            <a:xfrm>
              <a:off x="5880100" y="4203700"/>
              <a:ext cx="76200" cy="76200"/>
            </a:xfrm>
            <a:prstGeom prst="ellipse">
              <a:avLst/>
            </a:prstGeom>
            <a:solidFill>
              <a:srgbClr val="4B7355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Vector_115">
              <a:extLst>
                <a:ext uri="{FF2B5EF4-FFF2-40B4-BE49-F238E27FC236}">
                  <a16:creationId xmlns:a16="http://schemas.microsoft.com/office/drawing/2014/main" id="{429B378D-B5D7-04B4-7767-CD75D9455FF5}"/>
                </a:ext>
              </a:extLst>
            </p:cNvPr>
            <p:cNvSpPr/>
            <p:nvPr/>
          </p:nvSpPr>
          <p:spPr>
            <a:xfrm>
              <a:off x="6845300" y="4660900"/>
              <a:ext cx="76200" cy="76200"/>
            </a:xfrm>
            <a:prstGeom prst="ellipse">
              <a:avLst/>
            </a:prstGeom>
            <a:solidFill>
              <a:srgbClr val="4B7355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0" name="Line_116">
              <a:extLst>
                <a:ext uri="{FF2B5EF4-FFF2-40B4-BE49-F238E27FC236}">
                  <a16:creationId xmlns:a16="http://schemas.microsoft.com/office/drawing/2014/main" id="{BC645ACA-5FFD-556E-6CB6-B0733181D354}"/>
                </a:ext>
              </a:extLst>
            </p:cNvPr>
            <p:cNvCxnSpPr/>
            <p:nvPr/>
          </p:nvCxnSpPr>
          <p:spPr>
            <a:xfrm>
              <a:off x="990600" y="4940300"/>
              <a:ext cx="6045200" cy="0"/>
            </a:xfrm>
            <a:prstGeom prst="line">
              <a:avLst/>
            </a:prstGeom>
            <a:ln w="12700">
              <a:solidFill>
                <a:srgbClr val="D5DDC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1" name="Text_117">
              <a:extLst>
                <a:ext uri="{FF2B5EF4-FFF2-40B4-BE49-F238E27FC236}">
                  <a16:creationId xmlns:a16="http://schemas.microsoft.com/office/drawing/2014/main" id="{7C649982-FCD9-EF28-F2EF-135C4BAA856B}"/>
                </a:ext>
              </a:extLst>
            </p:cNvPr>
            <p:cNvSpPr txBox="1"/>
            <p:nvPr/>
          </p:nvSpPr>
          <p:spPr>
            <a:xfrm>
              <a:off x="774700" y="5067300"/>
              <a:ext cx="635000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>
                <a:lnSpc>
                  <a:spcPct val="107000"/>
                </a:lnSpc>
              </a:pPr>
              <a:r>
                <a:rPr lang="bg-BG" sz="1000" dirty="0">
                  <a:solidFill>
                    <a:srgbClr val="657268"/>
                  </a:solidFill>
                  <a:latin typeface="Segoe UI" panose="020B0502040204020203" pitchFamily="34" charset="0"/>
                </a:rPr>
                <a:t>08:00</a:t>
              </a:r>
            </a:p>
          </p:txBody>
        </p:sp>
        <p:sp>
          <p:nvSpPr>
            <p:cNvPr id="172" name="Text_118">
              <a:extLst>
                <a:ext uri="{FF2B5EF4-FFF2-40B4-BE49-F238E27FC236}">
                  <a16:creationId xmlns:a16="http://schemas.microsoft.com/office/drawing/2014/main" id="{E5D9E466-7D4D-1C39-7927-F2D11780AA1A}"/>
                </a:ext>
              </a:extLst>
            </p:cNvPr>
            <p:cNvSpPr txBox="1"/>
            <p:nvPr/>
          </p:nvSpPr>
          <p:spPr>
            <a:xfrm>
              <a:off x="1739900" y="5067300"/>
              <a:ext cx="635000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>
                <a:lnSpc>
                  <a:spcPct val="107000"/>
                </a:lnSpc>
              </a:pPr>
              <a:r>
                <a:rPr lang="bg-BG" sz="1000">
                  <a:solidFill>
                    <a:srgbClr val="657268"/>
                  </a:solidFill>
                  <a:latin typeface="Segoe UI" panose="020B0502040204020203" pitchFamily="34" charset="0"/>
                </a:rPr>
                <a:t>10:00</a:t>
              </a:r>
              <a:endParaRPr lang="bg-BG" sz="1000" dirty="0">
                <a:solidFill>
                  <a:srgbClr val="657268"/>
                </a:solidFill>
                <a:latin typeface="Segoe UI" panose="020B0502040204020203" pitchFamily="34" charset="0"/>
              </a:endParaRPr>
            </a:p>
          </p:txBody>
        </p:sp>
        <p:sp>
          <p:nvSpPr>
            <p:cNvPr id="173" name="Text_119">
              <a:extLst>
                <a:ext uri="{FF2B5EF4-FFF2-40B4-BE49-F238E27FC236}">
                  <a16:creationId xmlns:a16="http://schemas.microsoft.com/office/drawing/2014/main" id="{ABBBC51F-D35F-639A-3C99-B494E5846C04}"/>
                </a:ext>
              </a:extLst>
            </p:cNvPr>
            <p:cNvSpPr txBox="1"/>
            <p:nvPr/>
          </p:nvSpPr>
          <p:spPr>
            <a:xfrm>
              <a:off x="2705100" y="5067300"/>
              <a:ext cx="635000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>
                <a:lnSpc>
                  <a:spcPct val="107000"/>
                </a:lnSpc>
              </a:pPr>
              <a:r>
                <a:rPr lang="bg-BG" sz="1000">
                  <a:solidFill>
                    <a:srgbClr val="657268"/>
                  </a:solidFill>
                  <a:latin typeface="Segoe UI" panose="020B0502040204020203" pitchFamily="34" charset="0"/>
                </a:rPr>
                <a:t>12:00</a:t>
              </a:r>
              <a:endParaRPr lang="bg-BG" sz="1000" dirty="0">
                <a:solidFill>
                  <a:srgbClr val="657268"/>
                </a:solidFill>
                <a:latin typeface="Segoe UI" panose="020B0502040204020203" pitchFamily="34" charset="0"/>
              </a:endParaRPr>
            </a:p>
          </p:txBody>
        </p:sp>
        <p:sp>
          <p:nvSpPr>
            <p:cNvPr id="174" name="Text_120">
              <a:extLst>
                <a:ext uri="{FF2B5EF4-FFF2-40B4-BE49-F238E27FC236}">
                  <a16:creationId xmlns:a16="http://schemas.microsoft.com/office/drawing/2014/main" id="{AE1702AC-823E-3A57-E84E-43B86F023A8E}"/>
                </a:ext>
              </a:extLst>
            </p:cNvPr>
            <p:cNvSpPr txBox="1"/>
            <p:nvPr/>
          </p:nvSpPr>
          <p:spPr>
            <a:xfrm>
              <a:off x="3670300" y="5067300"/>
              <a:ext cx="635000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>
                <a:lnSpc>
                  <a:spcPct val="107000"/>
                </a:lnSpc>
              </a:pPr>
              <a:r>
                <a:rPr lang="bg-BG" sz="1000">
                  <a:solidFill>
                    <a:srgbClr val="657268"/>
                  </a:solidFill>
                  <a:latin typeface="Segoe UI" panose="020B0502040204020203" pitchFamily="34" charset="0"/>
                </a:rPr>
                <a:t>14:00</a:t>
              </a:r>
              <a:endParaRPr lang="bg-BG" sz="1000" dirty="0">
                <a:solidFill>
                  <a:srgbClr val="657268"/>
                </a:solidFill>
                <a:latin typeface="Segoe UI" panose="020B0502040204020203" pitchFamily="34" charset="0"/>
              </a:endParaRPr>
            </a:p>
          </p:txBody>
        </p:sp>
        <p:sp>
          <p:nvSpPr>
            <p:cNvPr id="175" name="Text_121">
              <a:extLst>
                <a:ext uri="{FF2B5EF4-FFF2-40B4-BE49-F238E27FC236}">
                  <a16:creationId xmlns:a16="http://schemas.microsoft.com/office/drawing/2014/main" id="{FECB1A62-A8EB-97EB-50E3-B4C4B2F90392}"/>
                </a:ext>
              </a:extLst>
            </p:cNvPr>
            <p:cNvSpPr txBox="1"/>
            <p:nvPr/>
          </p:nvSpPr>
          <p:spPr>
            <a:xfrm>
              <a:off x="4635500" y="5067300"/>
              <a:ext cx="635000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>
                <a:lnSpc>
                  <a:spcPct val="107000"/>
                </a:lnSpc>
              </a:pPr>
              <a:r>
                <a:rPr lang="bg-BG" sz="1000">
                  <a:solidFill>
                    <a:srgbClr val="657268"/>
                  </a:solidFill>
                  <a:latin typeface="Segoe UI" panose="020B0502040204020203" pitchFamily="34" charset="0"/>
                </a:rPr>
                <a:t>16:00</a:t>
              </a:r>
              <a:endParaRPr lang="bg-BG" sz="1000" dirty="0">
                <a:solidFill>
                  <a:srgbClr val="657268"/>
                </a:solidFill>
                <a:latin typeface="Segoe UI" panose="020B0502040204020203" pitchFamily="34" charset="0"/>
              </a:endParaRPr>
            </a:p>
          </p:txBody>
        </p:sp>
        <p:sp>
          <p:nvSpPr>
            <p:cNvPr id="176" name="Text_122">
              <a:extLst>
                <a:ext uri="{FF2B5EF4-FFF2-40B4-BE49-F238E27FC236}">
                  <a16:creationId xmlns:a16="http://schemas.microsoft.com/office/drawing/2014/main" id="{4C0613A8-5F71-297F-7087-CB6856C8CAA8}"/>
                </a:ext>
              </a:extLst>
            </p:cNvPr>
            <p:cNvSpPr txBox="1"/>
            <p:nvPr/>
          </p:nvSpPr>
          <p:spPr>
            <a:xfrm>
              <a:off x="5600700" y="5067300"/>
              <a:ext cx="635000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>
                <a:lnSpc>
                  <a:spcPct val="107000"/>
                </a:lnSpc>
              </a:pPr>
              <a:r>
                <a:rPr lang="bg-BG" sz="1000">
                  <a:solidFill>
                    <a:srgbClr val="657268"/>
                  </a:solidFill>
                  <a:latin typeface="Segoe UI" panose="020B0502040204020203" pitchFamily="34" charset="0"/>
                </a:rPr>
                <a:t>18:00</a:t>
              </a:r>
              <a:endParaRPr lang="bg-BG" sz="1000" dirty="0">
                <a:solidFill>
                  <a:srgbClr val="657268"/>
                </a:solidFill>
                <a:latin typeface="Segoe UI" panose="020B0502040204020203" pitchFamily="34" charset="0"/>
              </a:endParaRPr>
            </a:p>
          </p:txBody>
        </p:sp>
        <p:sp>
          <p:nvSpPr>
            <p:cNvPr id="177" name="Text_123">
              <a:extLst>
                <a:ext uri="{FF2B5EF4-FFF2-40B4-BE49-F238E27FC236}">
                  <a16:creationId xmlns:a16="http://schemas.microsoft.com/office/drawing/2014/main" id="{58577142-7F93-900A-7534-0CAA335D56B0}"/>
                </a:ext>
              </a:extLst>
            </p:cNvPr>
            <p:cNvSpPr txBox="1"/>
            <p:nvPr/>
          </p:nvSpPr>
          <p:spPr>
            <a:xfrm>
              <a:off x="6565900" y="5067300"/>
              <a:ext cx="635000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>
                <a:lnSpc>
                  <a:spcPct val="107000"/>
                </a:lnSpc>
              </a:pPr>
              <a:r>
                <a:rPr lang="bg-BG" sz="1000">
                  <a:solidFill>
                    <a:srgbClr val="657268"/>
                  </a:solidFill>
                  <a:latin typeface="Segoe UI" panose="020B0502040204020203" pitchFamily="34" charset="0"/>
                </a:rPr>
                <a:t>20:00</a:t>
              </a:r>
              <a:endParaRPr lang="bg-BG" sz="1000" dirty="0">
                <a:solidFill>
                  <a:srgbClr val="657268"/>
                </a:solidFill>
                <a:latin typeface="Segoe UI" panose="020B0502040204020203" pitchFamily="34" charset="0"/>
              </a:endParaRPr>
            </a:p>
          </p:txBody>
        </p:sp>
        <p:sp>
          <p:nvSpPr>
            <p:cNvPr id="178" name="Vector_124">
              <a:extLst>
                <a:ext uri="{FF2B5EF4-FFF2-40B4-BE49-F238E27FC236}">
                  <a16:creationId xmlns:a16="http://schemas.microsoft.com/office/drawing/2014/main" id="{B5B0E6EF-2867-071B-2BBC-8AE804A42F89}"/>
                </a:ext>
              </a:extLst>
            </p:cNvPr>
            <p:cNvSpPr/>
            <p:nvPr/>
          </p:nvSpPr>
          <p:spPr>
            <a:xfrm>
              <a:off x="2806700" y="3996923"/>
              <a:ext cx="1879600" cy="355600"/>
            </a:xfrm>
            <a:prstGeom prst="roundRect">
              <a:avLst/>
            </a:prstGeom>
            <a:solidFill>
              <a:srgbClr val="173C3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9" name="Text_125">
              <a:extLst>
                <a:ext uri="{FF2B5EF4-FFF2-40B4-BE49-F238E27FC236}">
                  <a16:creationId xmlns:a16="http://schemas.microsoft.com/office/drawing/2014/main" id="{1E2B88E5-83C7-DD25-699B-78A054F5DF99}"/>
                </a:ext>
              </a:extLst>
            </p:cNvPr>
            <p:cNvSpPr txBox="1"/>
            <p:nvPr/>
          </p:nvSpPr>
          <p:spPr>
            <a:xfrm>
              <a:off x="2908300" y="4092172"/>
              <a:ext cx="1651000" cy="254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>
                <a:lnSpc>
                  <a:spcPct val="107000"/>
                </a:lnSpc>
              </a:pPr>
              <a:r>
                <a:rPr lang="bg-BG" sz="1100" b="1" dirty="0">
                  <a:solidFill>
                    <a:srgbClr val="FFFFFF"/>
                  </a:solidFill>
                  <a:latin typeface="Segoe UI Semibold" panose="020B0702040204020203" pitchFamily="34" charset="0"/>
                </a:rPr>
                <a:t>ПЛАНИРАНА ДЕЙНОСТ</a:t>
              </a:r>
            </a:p>
          </p:txBody>
        </p:sp>
        <p:cxnSp>
          <p:nvCxnSpPr>
            <p:cNvPr id="180" name="Line_126">
              <a:extLst>
                <a:ext uri="{FF2B5EF4-FFF2-40B4-BE49-F238E27FC236}">
                  <a16:creationId xmlns:a16="http://schemas.microsoft.com/office/drawing/2014/main" id="{52730848-3DCB-6300-B8E1-3B513CEB4D24}"/>
                </a:ext>
              </a:extLst>
            </p:cNvPr>
            <p:cNvCxnSpPr/>
            <p:nvPr/>
          </p:nvCxnSpPr>
          <p:spPr>
            <a:xfrm>
              <a:off x="6883400" y="3035300"/>
              <a:ext cx="0" cy="1905000"/>
            </a:xfrm>
            <a:prstGeom prst="line">
              <a:avLst/>
            </a:prstGeom>
            <a:ln w="17780">
              <a:solidFill>
                <a:srgbClr val="BE795F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1" name="Text_127">
              <a:extLst>
                <a:ext uri="{FF2B5EF4-FFF2-40B4-BE49-F238E27FC236}">
                  <a16:creationId xmlns:a16="http://schemas.microsoft.com/office/drawing/2014/main" id="{471BC7DE-221F-3EF1-288F-745A06A4659E}"/>
                </a:ext>
              </a:extLst>
            </p:cNvPr>
            <p:cNvSpPr txBox="1"/>
            <p:nvPr/>
          </p:nvSpPr>
          <p:spPr>
            <a:xfrm>
              <a:off x="6578599" y="2902119"/>
              <a:ext cx="635000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>
                <a:lnSpc>
                  <a:spcPct val="107000"/>
                </a:lnSpc>
              </a:pPr>
              <a:r>
                <a:rPr lang="bg-BG" sz="900" b="1" dirty="0">
                  <a:solidFill>
                    <a:srgbClr val="BE795F"/>
                  </a:solidFill>
                  <a:latin typeface="Segoe UI Semibold" panose="020B0702040204020203" pitchFamily="34" charset="0"/>
                </a:rPr>
                <a:t>КРАЕН СРОК</a:t>
              </a:r>
            </a:p>
          </p:txBody>
        </p:sp>
        <p:sp>
          <p:nvSpPr>
            <p:cNvPr id="182" name="Text_128">
              <a:extLst>
                <a:ext uri="{FF2B5EF4-FFF2-40B4-BE49-F238E27FC236}">
                  <a16:creationId xmlns:a16="http://schemas.microsoft.com/office/drawing/2014/main" id="{718EC330-BF35-6124-770B-2B26D69569E9}"/>
                </a:ext>
              </a:extLst>
            </p:cNvPr>
            <p:cNvSpPr txBox="1"/>
            <p:nvPr/>
          </p:nvSpPr>
          <p:spPr>
            <a:xfrm>
              <a:off x="939800" y="5429250"/>
              <a:ext cx="3086100" cy="203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07000"/>
                </a:lnSpc>
              </a:pPr>
              <a:r>
                <a:rPr lang="bg-BG" sz="800" i="1" dirty="0">
                  <a:solidFill>
                    <a:srgbClr val="657268"/>
                  </a:solidFill>
                  <a:latin typeface="Segoe UI" panose="020B0502040204020203" pitchFamily="34" charset="0"/>
                </a:rPr>
                <a:t>Илюстративен сценарий; без реални тарифи или измервания.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97076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5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2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2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7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45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4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8" grpId="0"/>
      <p:bldP spid="38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Vector_244">
            <a:extLst>
              <a:ext uri="{FF2B5EF4-FFF2-40B4-BE49-F238E27FC236}">
                <a16:creationId xmlns:a16="http://schemas.microsoft.com/office/drawing/2014/main" id="{351BC5AB-7FB5-F0D6-444D-6A29FC39F516}"/>
              </a:ext>
            </a:extLst>
          </p:cNvPr>
          <p:cNvSpPr/>
          <p:nvPr/>
        </p:nvSpPr>
        <p:spPr>
          <a:xfrm>
            <a:off x="5174572" y="783918"/>
            <a:ext cx="2518452" cy="1207085"/>
          </a:xfrm>
          <a:prstGeom prst="rect">
            <a:avLst/>
          </a:prstGeom>
          <a:solidFill>
            <a:srgbClr val="E8EDD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Line_237">
            <a:extLst>
              <a:ext uri="{FF2B5EF4-FFF2-40B4-BE49-F238E27FC236}">
                <a16:creationId xmlns:a16="http://schemas.microsoft.com/office/drawing/2014/main" id="{90DB83C0-C1FB-08FE-1E24-491E6AA23372}"/>
              </a:ext>
            </a:extLst>
          </p:cNvPr>
          <p:cNvCxnSpPr/>
          <p:nvPr/>
        </p:nvCxnSpPr>
        <p:spPr>
          <a:xfrm>
            <a:off x="609600" y="6299200"/>
            <a:ext cx="10972800" cy="0"/>
          </a:xfrm>
          <a:prstGeom prst="line">
            <a:avLst/>
          </a:prstGeom>
          <a:ln w="10160">
            <a:solidFill>
              <a:srgbClr val="D5DD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_238">
            <a:extLst>
              <a:ext uri="{FF2B5EF4-FFF2-40B4-BE49-F238E27FC236}">
                <a16:creationId xmlns:a16="http://schemas.microsoft.com/office/drawing/2014/main" id="{7E14D25D-B135-D1C7-A172-B90A0A9592E7}"/>
              </a:ext>
            </a:extLst>
          </p:cNvPr>
          <p:cNvSpPr txBox="1"/>
          <p:nvPr/>
        </p:nvSpPr>
        <p:spPr>
          <a:xfrm>
            <a:off x="609600" y="6451600"/>
            <a:ext cx="54610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7000"/>
              </a:lnSpc>
            </a:pPr>
            <a:r>
              <a:rPr lang="bg-BG" sz="1000">
                <a:solidFill>
                  <a:srgbClr val="657268"/>
                </a:solidFill>
                <a:latin typeface="Segoe UI" panose="020B0502040204020203" pitchFamily="34" charset="0"/>
              </a:rPr>
              <a:t>OPTIMESH  /  КРАСНА ПОЛЯНА</a:t>
            </a:r>
            <a:endParaRPr lang="bg-BG" sz="1000" dirty="0">
              <a:solidFill>
                <a:srgbClr val="657268"/>
              </a:solidFill>
              <a:latin typeface="Segoe UI" panose="020B0502040204020203" pitchFamily="34" charset="0"/>
            </a:endParaRPr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ED5D9A6C-F50F-7B28-3044-8A7EB47411C6}"/>
              </a:ext>
            </a:extLst>
          </p:cNvPr>
          <p:cNvGrpSpPr/>
          <p:nvPr/>
        </p:nvGrpSpPr>
        <p:grpSpPr>
          <a:xfrm>
            <a:off x="5097968" y="2902635"/>
            <a:ext cx="2583641" cy="1189295"/>
            <a:chOff x="5218618" y="2915853"/>
            <a:chExt cx="2583641" cy="1189295"/>
          </a:xfrm>
        </p:grpSpPr>
        <p:sp>
          <p:nvSpPr>
            <p:cNvPr id="91" name="Vector_256">
              <a:extLst>
                <a:ext uri="{FF2B5EF4-FFF2-40B4-BE49-F238E27FC236}">
                  <a16:creationId xmlns:a16="http://schemas.microsoft.com/office/drawing/2014/main" id="{72D97EFB-C318-B6E4-F8F9-4F8AF61E335F}"/>
                </a:ext>
              </a:extLst>
            </p:cNvPr>
            <p:cNvSpPr/>
            <p:nvPr/>
          </p:nvSpPr>
          <p:spPr>
            <a:xfrm>
              <a:off x="5218618" y="2915853"/>
              <a:ext cx="2583641" cy="1189295"/>
            </a:xfrm>
            <a:prstGeom prst="rect">
              <a:avLst/>
            </a:prstGeom>
            <a:solidFill>
              <a:srgbClr val="E8EDDA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Vector_240">
              <a:extLst>
                <a:ext uri="{FF2B5EF4-FFF2-40B4-BE49-F238E27FC236}">
                  <a16:creationId xmlns:a16="http://schemas.microsoft.com/office/drawing/2014/main" id="{108E9B7F-845C-7F07-9685-9F821DD4B609}"/>
                </a:ext>
              </a:extLst>
            </p:cNvPr>
            <p:cNvSpPr/>
            <p:nvPr/>
          </p:nvSpPr>
          <p:spPr>
            <a:xfrm>
              <a:off x="5310289" y="2958051"/>
              <a:ext cx="2400300" cy="110490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D5DDC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ext_241">
            <a:extLst>
              <a:ext uri="{FF2B5EF4-FFF2-40B4-BE49-F238E27FC236}">
                <a16:creationId xmlns:a16="http://schemas.microsoft.com/office/drawing/2014/main" id="{0A520297-911E-3551-9331-83A9FB0970B8}"/>
              </a:ext>
            </a:extLst>
          </p:cNvPr>
          <p:cNvSpPr txBox="1"/>
          <p:nvPr/>
        </p:nvSpPr>
        <p:spPr>
          <a:xfrm>
            <a:off x="5316639" y="3201482"/>
            <a:ext cx="2113393" cy="5915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7000"/>
              </a:lnSpc>
            </a:pPr>
            <a:r>
              <a:rPr lang="en-US" b="1" dirty="0" err="1">
                <a:solidFill>
                  <a:srgbClr val="173C3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Supabase</a:t>
            </a:r>
            <a:br>
              <a:rPr lang="en-US" b="1" dirty="0">
                <a:solidFill>
                  <a:srgbClr val="173C34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en-US" b="1" dirty="0">
                <a:solidFill>
                  <a:srgbClr val="173C3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- Database</a:t>
            </a:r>
            <a:endParaRPr lang="bg-BG" b="1" dirty="0">
              <a:solidFill>
                <a:srgbClr val="173C34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6DDB543C-AABB-7CCD-139E-00AEE89FED29}"/>
              </a:ext>
            </a:extLst>
          </p:cNvPr>
          <p:cNvGrpSpPr/>
          <p:nvPr/>
        </p:nvGrpSpPr>
        <p:grpSpPr>
          <a:xfrm>
            <a:off x="1474444" y="785511"/>
            <a:ext cx="2599287" cy="1205492"/>
            <a:chOff x="1566518" y="785511"/>
            <a:chExt cx="2599287" cy="1205492"/>
          </a:xfrm>
        </p:grpSpPr>
        <p:sp>
          <p:nvSpPr>
            <p:cNvPr id="120" name="Vector_252">
              <a:extLst>
                <a:ext uri="{FF2B5EF4-FFF2-40B4-BE49-F238E27FC236}">
                  <a16:creationId xmlns:a16="http://schemas.microsoft.com/office/drawing/2014/main" id="{EF878485-9201-D4A2-B574-762DCE7A153C}"/>
                </a:ext>
              </a:extLst>
            </p:cNvPr>
            <p:cNvSpPr/>
            <p:nvPr/>
          </p:nvSpPr>
          <p:spPr>
            <a:xfrm>
              <a:off x="1566518" y="794506"/>
              <a:ext cx="2599287" cy="1196497"/>
            </a:xfrm>
            <a:prstGeom prst="rect">
              <a:avLst/>
            </a:prstGeom>
            <a:solidFill>
              <a:srgbClr val="173C3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Vector_244">
              <a:extLst>
                <a:ext uri="{FF2B5EF4-FFF2-40B4-BE49-F238E27FC236}">
                  <a16:creationId xmlns:a16="http://schemas.microsoft.com/office/drawing/2014/main" id="{010ECAB2-DA24-A185-663C-405BF5A3CC6F}"/>
                </a:ext>
              </a:extLst>
            </p:cNvPr>
            <p:cNvSpPr/>
            <p:nvPr/>
          </p:nvSpPr>
          <p:spPr>
            <a:xfrm>
              <a:off x="1676605" y="785511"/>
              <a:ext cx="2489200" cy="1104899"/>
            </a:xfrm>
            <a:prstGeom prst="rect">
              <a:avLst/>
            </a:prstGeom>
            <a:solidFill>
              <a:srgbClr val="E8EDDA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Vector_248">
            <a:extLst>
              <a:ext uri="{FF2B5EF4-FFF2-40B4-BE49-F238E27FC236}">
                <a16:creationId xmlns:a16="http://schemas.microsoft.com/office/drawing/2014/main" id="{508F8820-7139-077C-AB76-13FC72DE10B9}"/>
              </a:ext>
            </a:extLst>
          </p:cNvPr>
          <p:cNvSpPr/>
          <p:nvPr/>
        </p:nvSpPr>
        <p:spPr>
          <a:xfrm>
            <a:off x="8680447" y="783918"/>
            <a:ext cx="2400300" cy="1104900"/>
          </a:xfrm>
          <a:prstGeom prst="rect">
            <a:avLst/>
          </a:prstGeom>
          <a:solidFill>
            <a:srgbClr val="E8EDD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_249">
            <a:extLst>
              <a:ext uri="{FF2B5EF4-FFF2-40B4-BE49-F238E27FC236}">
                <a16:creationId xmlns:a16="http://schemas.microsoft.com/office/drawing/2014/main" id="{01D6DA9E-A444-F1CF-BD6C-77BD9B21EFC2}"/>
              </a:ext>
            </a:extLst>
          </p:cNvPr>
          <p:cNvSpPr txBox="1"/>
          <p:nvPr/>
        </p:nvSpPr>
        <p:spPr>
          <a:xfrm>
            <a:off x="1584531" y="868415"/>
            <a:ext cx="2440288" cy="107836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7000"/>
              </a:lnSpc>
            </a:pPr>
            <a:r>
              <a:rPr lang="en-US" sz="2000" b="1" dirty="0">
                <a:solidFill>
                  <a:srgbClr val="173C34"/>
                </a:solidFill>
                <a:latin typeface="Segoe UI Semibold" panose="020B0702040204020203" pitchFamily="34" charset="0"/>
              </a:rPr>
              <a:t>Raspberry </a:t>
            </a:r>
            <a:r>
              <a:rPr lang="bg-BG" sz="2000" b="1" dirty="0" err="1">
                <a:solidFill>
                  <a:srgbClr val="173C34"/>
                </a:solidFill>
                <a:latin typeface="Segoe UI Semibold" panose="020B0702040204020203" pitchFamily="34" charset="0"/>
              </a:rPr>
              <a:t>Pi</a:t>
            </a:r>
            <a:r>
              <a:rPr lang="en-US" sz="2000" b="1" dirty="0">
                <a:solidFill>
                  <a:srgbClr val="173C34"/>
                </a:solidFill>
                <a:latin typeface="Segoe UI Semibold" panose="020B0702040204020203" pitchFamily="34" charset="0"/>
              </a:rPr>
              <a:t> gateway and local host</a:t>
            </a:r>
            <a:endParaRPr lang="bg-BG" sz="2000" b="1" dirty="0">
              <a:solidFill>
                <a:srgbClr val="173C34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0" name="Vector_252">
            <a:extLst>
              <a:ext uri="{FF2B5EF4-FFF2-40B4-BE49-F238E27FC236}">
                <a16:creationId xmlns:a16="http://schemas.microsoft.com/office/drawing/2014/main" id="{CCEEAFAC-907B-5D02-5CBD-D8EC1BE5B299}"/>
              </a:ext>
            </a:extLst>
          </p:cNvPr>
          <p:cNvSpPr/>
          <p:nvPr/>
        </p:nvSpPr>
        <p:spPr>
          <a:xfrm>
            <a:off x="5176939" y="783918"/>
            <a:ext cx="2400300" cy="1104900"/>
          </a:xfrm>
          <a:prstGeom prst="rect">
            <a:avLst/>
          </a:prstGeom>
          <a:solidFill>
            <a:srgbClr val="173C3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_253">
            <a:extLst>
              <a:ext uri="{FF2B5EF4-FFF2-40B4-BE49-F238E27FC236}">
                <a16:creationId xmlns:a16="http://schemas.microsoft.com/office/drawing/2014/main" id="{A1D6C7E2-C7D2-3EC4-93A1-417D5716FEC6}"/>
              </a:ext>
            </a:extLst>
          </p:cNvPr>
          <p:cNvSpPr txBox="1"/>
          <p:nvPr/>
        </p:nvSpPr>
        <p:spPr>
          <a:xfrm>
            <a:off x="5316639" y="1049064"/>
            <a:ext cx="21209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7000"/>
              </a:lnSpc>
            </a:pPr>
            <a:r>
              <a:rPr lang="bg-BG" sz="2100" b="1" dirty="0" err="1">
                <a:solidFill>
                  <a:srgbClr val="FFFFFF"/>
                </a:solidFill>
                <a:latin typeface="Segoe UI Semibold" panose="020B0702040204020203" pitchFamily="34" charset="0"/>
              </a:rPr>
              <a:t>FastAPI</a:t>
            </a:r>
            <a:endParaRPr lang="bg-BG" sz="2100" b="1" dirty="0">
              <a:solidFill>
                <a:srgbClr val="FFFFF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2" name="Text_254">
            <a:extLst>
              <a:ext uri="{FF2B5EF4-FFF2-40B4-BE49-F238E27FC236}">
                <a16:creationId xmlns:a16="http://schemas.microsoft.com/office/drawing/2014/main" id="{F032A08A-70F2-C540-76F9-F4E66242BDFB}"/>
              </a:ext>
            </a:extLst>
          </p:cNvPr>
          <p:cNvSpPr txBox="1"/>
          <p:nvPr/>
        </p:nvSpPr>
        <p:spPr>
          <a:xfrm>
            <a:off x="5784208" y="1471607"/>
            <a:ext cx="1185761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7000"/>
              </a:lnSpc>
            </a:pPr>
            <a:r>
              <a:rPr lang="bg-BG" sz="1200" dirty="0" err="1">
                <a:solidFill>
                  <a:srgbClr val="BACD91"/>
                </a:solidFill>
                <a:latin typeface="Segoe UI" panose="020B0502040204020203" pitchFamily="34" charset="0"/>
              </a:rPr>
              <a:t>Backend</a:t>
            </a:r>
            <a:endParaRPr lang="bg-BG" sz="1200" dirty="0">
              <a:solidFill>
                <a:srgbClr val="BACD91"/>
              </a:solidFill>
              <a:latin typeface="Segoe UI" panose="020B0502040204020203" pitchFamily="34" charset="0"/>
            </a:endParaRPr>
          </a:p>
        </p:txBody>
      </p:sp>
      <p:sp>
        <p:nvSpPr>
          <p:cNvPr id="25" name="Text_257">
            <a:extLst>
              <a:ext uri="{FF2B5EF4-FFF2-40B4-BE49-F238E27FC236}">
                <a16:creationId xmlns:a16="http://schemas.microsoft.com/office/drawing/2014/main" id="{9AF1B609-87AA-E0CD-9AD6-79D8E763E022}"/>
              </a:ext>
            </a:extLst>
          </p:cNvPr>
          <p:cNvSpPr txBox="1"/>
          <p:nvPr/>
        </p:nvSpPr>
        <p:spPr>
          <a:xfrm>
            <a:off x="8820147" y="1124283"/>
            <a:ext cx="21209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7000"/>
              </a:lnSpc>
            </a:pPr>
            <a:r>
              <a:rPr lang="en-US" sz="2400" b="1" dirty="0" err="1">
                <a:solidFill>
                  <a:srgbClr val="173C3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OptiMesh</a:t>
            </a:r>
            <a:endParaRPr lang="bg-BG" sz="2400" b="1" dirty="0">
              <a:solidFill>
                <a:srgbClr val="173C34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1" name="Text_263">
            <a:extLst>
              <a:ext uri="{FF2B5EF4-FFF2-40B4-BE49-F238E27FC236}">
                <a16:creationId xmlns:a16="http://schemas.microsoft.com/office/drawing/2014/main" id="{2E077F5A-BD78-3C38-6F97-CB4DB6AF1B56}"/>
              </a:ext>
            </a:extLst>
          </p:cNvPr>
          <p:cNvSpPr txBox="1"/>
          <p:nvPr/>
        </p:nvSpPr>
        <p:spPr>
          <a:xfrm>
            <a:off x="4667250" y="73496"/>
            <a:ext cx="32385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7000"/>
              </a:lnSpc>
            </a:pPr>
            <a:r>
              <a:rPr lang="bg-BG" sz="1050" b="1" dirty="0">
                <a:solidFill>
                  <a:srgbClr val="BE795F"/>
                </a:solidFill>
                <a:latin typeface="Segoe UI Semibold" panose="020B0702040204020203" pitchFamily="34" charset="0"/>
              </a:rPr>
              <a:t>КОМАНДИ ЧРЕЗ BACKEND И MQTT</a:t>
            </a:r>
          </a:p>
        </p:txBody>
      </p:sp>
      <p:sp>
        <p:nvSpPr>
          <p:cNvPr id="93" name="Vector_256">
            <a:extLst>
              <a:ext uri="{FF2B5EF4-FFF2-40B4-BE49-F238E27FC236}">
                <a16:creationId xmlns:a16="http://schemas.microsoft.com/office/drawing/2014/main" id="{787AAF80-0A34-6E66-C51B-9F843DC55E38}"/>
              </a:ext>
            </a:extLst>
          </p:cNvPr>
          <p:cNvSpPr/>
          <p:nvPr/>
        </p:nvSpPr>
        <p:spPr>
          <a:xfrm>
            <a:off x="1587705" y="2910836"/>
            <a:ext cx="2489200" cy="1104900"/>
          </a:xfrm>
          <a:prstGeom prst="rect">
            <a:avLst/>
          </a:prstGeom>
          <a:solidFill>
            <a:srgbClr val="E8EDD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Vector_256">
            <a:extLst>
              <a:ext uri="{FF2B5EF4-FFF2-40B4-BE49-F238E27FC236}">
                <a16:creationId xmlns:a16="http://schemas.microsoft.com/office/drawing/2014/main" id="{95CAC9DD-A9E8-4BD1-BB70-3CF8EE7E6302}"/>
              </a:ext>
            </a:extLst>
          </p:cNvPr>
          <p:cNvSpPr/>
          <p:nvPr/>
        </p:nvSpPr>
        <p:spPr>
          <a:xfrm>
            <a:off x="1587705" y="4160641"/>
            <a:ext cx="2489200" cy="1104900"/>
          </a:xfrm>
          <a:prstGeom prst="rect">
            <a:avLst/>
          </a:prstGeom>
          <a:solidFill>
            <a:srgbClr val="E8EDD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0E48AC6-5B28-4E9D-25D6-74437F06783D}"/>
              </a:ext>
            </a:extLst>
          </p:cNvPr>
          <p:cNvSpPr txBox="1"/>
          <p:nvPr/>
        </p:nvSpPr>
        <p:spPr>
          <a:xfrm>
            <a:off x="605889" y="2182705"/>
            <a:ext cx="2149474" cy="53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</a:pPr>
            <a:r>
              <a:rPr lang="en-US" sz="1400" b="1" i="1" dirty="0">
                <a:solidFill>
                  <a:srgbClr val="173C34"/>
                </a:solidFill>
                <a:latin typeface="Segoe UI Semibold" panose="020B0702040204020203" pitchFamily="34" charset="0"/>
              </a:rPr>
              <a:t>Through </a:t>
            </a:r>
            <a:r>
              <a:rPr lang="en-US" sz="1400" b="1" i="1" dirty="0" err="1">
                <a:solidFill>
                  <a:srgbClr val="173C34"/>
                </a:solidFill>
                <a:latin typeface="Segoe UI Semibold" panose="020B0702040204020203" pitchFamily="34" charset="0"/>
              </a:rPr>
              <a:t>WiFi</a:t>
            </a:r>
            <a:r>
              <a:rPr lang="en-US" sz="1400" b="1" i="1" dirty="0">
                <a:solidFill>
                  <a:srgbClr val="173C34"/>
                </a:solidFill>
                <a:latin typeface="Segoe UI Semibold" panose="020B0702040204020203" pitchFamily="34" charset="0"/>
              </a:rPr>
              <a:t>/Bluetooth/Zigbee</a:t>
            </a:r>
            <a:endParaRPr lang="bg-BG" sz="1400" b="1" i="1" dirty="0">
              <a:solidFill>
                <a:srgbClr val="173C34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3" name="Text_245">
            <a:extLst>
              <a:ext uri="{FF2B5EF4-FFF2-40B4-BE49-F238E27FC236}">
                <a16:creationId xmlns:a16="http://schemas.microsoft.com/office/drawing/2014/main" id="{E2916993-C7E0-1CA6-94AE-7E7B234D68F5}"/>
              </a:ext>
            </a:extLst>
          </p:cNvPr>
          <p:cNvSpPr txBox="1"/>
          <p:nvPr/>
        </p:nvSpPr>
        <p:spPr>
          <a:xfrm>
            <a:off x="1605470" y="3317226"/>
            <a:ext cx="2419349" cy="42431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7000"/>
              </a:lnSpc>
            </a:pPr>
            <a:r>
              <a:rPr lang="bg-BG" b="1" dirty="0">
                <a:solidFill>
                  <a:srgbClr val="173C34"/>
                </a:solidFill>
                <a:latin typeface="Segoe UI Semibold" panose="020B0702040204020203" pitchFamily="34" charset="0"/>
              </a:rPr>
              <a:t>ESP32</a:t>
            </a:r>
            <a:r>
              <a:rPr lang="en-US" b="1" dirty="0">
                <a:solidFill>
                  <a:srgbClr val="173C34"/>
                </a:solidFill>
                <a:latin typeface="Segoe UI Semibold" panose="020B0702040204020203" pitchFamily="34" charset="0"/>
              </a:rPr>
              <a:t>/</a:t>
            </a:r>
            <a:r>
              <a:rPr lang="en-US" b="1" dirty="0" err="1">
                <a:solidFill>
                  <a:srgbClr val="173C34"/>
                </a:solidFill>
                <a:latin typeface="Segoe UI Semibold" panose="020B0702040204020203" pitchFamily="34" charset="0"/>
              </a:rPr>
              <a:t>smarp</a:t>
            </a:r>
            <a:r>
              <a:rPr lang="en-US" b="1" dirty="0">
                <a:solidFill>
                  <a:srgbClr val="173C34"/>
                </a:solidFill>
                <a:latin typeface="Segoe UI Semibold" panose="020B0702040204020203" pitchFamily="34" charset="0"/>
              </a:rPr>
              <a:t> plug</a:t>
            </a:r>
            <a:endParaRPr lang="bg-BG" b="1" dirty="0">
              <a:solidFill>
                <a:srgbClr val="173C34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5942B3C-63F9-65F4-0729-781C67A98C02}"/>
              </a:ext>
            </a:extLst>
          </p:cNvPr>
          <p:cNvSpPr txBox="1"/>
          <p:nvPr/>
        </p:nvSpPr>
        <p:spPr>
          <a:xfrm>
            <a:off x="1584531" y="4526823"/>
            <a:ext cx="2419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rgbClr val="173C3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Endpoints</a:t>
            </a:r>
            <a:r>
              <a:rPr lang="en-US" dirty="0">
                <a:solidFill>
                  <a:srgbClr val="173C3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/Devices</a:t>
            </a: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6E90E1BB-D3B1-4668-14F3-51068B0D53FA}"/>
              </a:ext>
            </a:extLst>
          </p:cNvPr>
          <p:cNvCxnSpPr>
            <a:cxnSpLocks/>
          </p:cNvCxnSpPr>
          <p:nvPr/>
        </p:nvCxnSpPr>
        <p:spPr>
          <a:xfrm flipV="1">
            <a:off x="2832305" y="2028327"/>
            <a:ext cx="0" cy="816473"/>
          </a:xfrm>
          <a:prstGeom prst="straightConnector1">
            <a:avLst/>
          </a:prstGeom>
          <a:ln>
            <a:solidFill>
              <a:schemeClr val="accent3">
                <a:lumMod val="5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4B05C901-7D0A-7863-4CEC-77997FFD3689}"/>
              </a:ext>
            </a:extLst>
          </p:cNvPr>
          <p:cNvCxnSpPr>
            <a:stCxn id="12" idx="3"/>
            <a:endCxn id="20" idx="1"/>
          </p:cNvCxnSpPr>
          <p:nvPr/>
        </p:nvCxnSpPr>
        <p:spPr>
          <a:xfrm flipV="1">
            <a:off x="4073731" y="1336368"/>
            <a:ext cx="1103208" cy="1593"/>
          </a:xfrm>
          <a:prstGeom prst="straightConnector1">
            <a:avLst/>
          </a:prstGeom>
          <a:ln w="38100">
            <a:solidFill>
              <a:schemeClr val="accent3">
                <a:lumMod val="5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C17CD616-782D-5340-599C-40BE80C47851}"/>
              </a:ext>
            </a:extLst>
          </p:cNvPr>
          <p:cNvCxnSpPr>
            <a:cxnSpLocks/>
            <a:stCxn id="20" idx="2"/>
            <a:endCxn id="91" idx="0"/>
          </p:cNvCxnSpPr>
          <p:nvPr/>
        </p:nvCxnSpPr>
        <p:spPr>
          <a:xfrm>
            <a:off x="6377089" y="1888818"/>
            <a:ext cx="12700" cy="1013817"/>
          </a:xfrm>
          <a:prstGeom prst="straightConnector1">
            <a:avLst/>
          </a:prstGeom>
          <a:ln w="38100">
            <a:solidFill>
              <a:schemeClr val="accent3">
                <a:lumMod val="5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934C60CB-E007-9EAB-7888-AF0C59E0A83C}"/>
              </a:ext>
            </a:extLst>
          </p:cNvPr>
          <p:cNvGrpSpPr/>
          <p:nvPr/>
        </p:nvGrpSpPr>
        <p:grpSpPr>
          <a:xfrm>
            <a:off x="2829131" y="302096"/>
            <a:ext cx="7051466" cy="483415"/>
            <a:chOff x="2829131" y="302096"/>
            <a:chExt cx="7051466" cy="483415"/>
          </a:xfrm>
        </p:grpSpPr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FD96DA05-686B-6007-44DF-FAE6740491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131" y="308947"/>
              <a:ext cx="7051466" cy="16032"/>
            </a:xfrm>
            <a:prstGeom prst="line">
              <a:avLst/>
            </a:pr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714C4995-0054-87B0-A456-6E5802D9F7B2}"/>
                </a:ext>
              </a:extLst>
            </p:cNvPr>
            <p:cNvCxnSpPr>
              <a:cxnSpLocks/>
              <a:endCxn id="12" idx="0"/>
            </p:cNvCxnSpPr>
            <p:nvPr/>
          </p:nvCxnSpPr>
          <p:spPr>
            <a:xfrm>
              <a:off x="2829131" y="311150"/>
              <a:ext cx="0" cy="474361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0FD95286-9B5B-DB5D-547D-8ACF26B67A03}"/>
                </a:ext>
              </a:extLst>
            </p:cNvPr>
            <p:cNvCxnSpPr>
              <a:cxnSpLocks/>
              <a:endCxn id="16" idx="0"/>
            </p:cNvCxnSpPr>
            <p:nvPr/>
          </p:nvCxnSpPr>
          <p:spPr>
            <a:xfrm>
              <a:off x="9880597" y="302096"/>
              <a:ext cx="0" cy="481822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F4D5868D-1EB6-2689-7D4A-C11268C81E29}"/>
              </a:ext>
            </a:extLst>
          </p:cNvPr>
          <p:cNvCxnSpPr>
            <a:cxnSpLocks/>
            <a:stCxn id="20" idx="3"/>
            <a:endCxn id="16" idx="1"/>
          </p:cNvCxnSpPr>
          <p:nvPr/>
        </p:nvCxnSpPr>
        <p:spPr>
          <a:xfrm>
            <a:off x="7577239" y="1336368"/>
            <a:ext cx="1103208" cy="0"/>
          </a:xfrm>
          <a:prstGeom prst="straightConnector1">
            <a:avLst/>
          </a:prstGeom>
          <a:ln w="38100">
            <a:solidFill>
              <a:schemeClr val="accent3">
                <a:lumMod val="5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F48EE4D1-6AD5-7BC2-2563-FAB0D1714F07}"/>
              </a:ext>
            </a:extLst>
          </p:cNvPr>
          <p:cNvGrpSpPr/>
          <p:nvPr/>
        </p:nvGrpSpPr>
        <p:grpSpPr>
          <a:xfrm>
            <a:off x="5316639" y="4244329"/>
            <a:ext cx="2058967" cy="1104900"/>
            <a:chOff x="5104269" y="4508624"/>
            <a:chExt cx="2058967" cy="1104900"/>
          </a:xfrm>
        </p:grpSpPr>
        <p:pic>
          <p:nvPicPr>
            <p:cNvPr id="162" name="Picture 161">
              <a:extLst>
                <a:ext uri="{FF2B5EF4-FFF2-40B4-BE49-F238E27FC236}">
                  <a16:creationId xmlns:a16="http://schemas.microsoft.com/office/drawing/2014/main" id="{B71C420C-4B00-CA1A-10AD-EDB0F13E8A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04269" y="4508624"/>
              <a:ext cx="679939" cy="1104900"/>
            </a:xfrm>
            <a:prstGeom prst="rect">
              <a:avLst/>
            </a:prstGeom>
          </p:spPr>
        </p:pic>
        <p:pic>
          <p:nvPicPr>
            <p:cNvPr id="164" name="Picture 163">
              <a:extLst>
                <a:ext uri="{FF2B5EF4-FFF2-40B4-BE49-F238E27FC236}">
                  <a16:creationId xmlns:a16="http://schemas.microsoft.com/office/drawing/2014/main" id="{23405DA0-B949-178F-0A0D-249ABBCC8B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84208" y="4508624"/>
              <a:ext cx="679939" cy="1104900"/>
            </a:xfrm>
            <a:prstGeom prst="rect">
              <a:avLst/>
            </a:prstGeom>
          </p:spPr>
        </p:pic>
        <p:pic>
          <p:nvPicPr>
            <p:cNvPr id="166" name="Picture 165">
              <a:extLst>
                <a:ext uri="{FF2B5EF4-FFF2-40B4-BE49-F238E27FC236}">
                  <a16:creationId xmlns:a16="http://schemas.microsoft.com/office/drawing/2014/main" id="{443F10E2-8B23-E2F9-B646-57B27D5522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83297" y="4508624"/>
              <a:ext cx="679939" cy="1104900"/>
            </a:xfrm>
            <a:prstGeom prst="rect">
              <a:avLst/>
            </a:prstGeom>
          </p:spPr>
        </p:pic>
      </p:grpSp>
      <p:pic>
        <p:nvPicPr>
          <p:cNvPr id="170" name="Picture 169">
            <a:extLst>
              <a:ext uri="{FF2B5EF4-FFF2-40B4-BE49-F238E27FC236}">
                <a16:creationId xmlns:a16="http://schemas.microsoft.com/office/drawing/2014/main" id="{0ED38F81-397D-2509-1BD4-694AEA90AB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798774">
            <a:off x="332904" y="2961362"/>
            <a:ext cx="739864" cy="1420408"/>
          </a:xfrm>
          <a:prstGeom prst="rect">
            <a:avLst/>
          </a:prstGeom>
        </p:spPr>
      </p:pic>
      <p:pic>
        <p:nvPicPr>
          <p:cNvPr id="172" name="Picture 171">
            <a:extLst>
              <a:ext uri="{FF2B5EF4-FFF2-40B4-BE49-F238E27FC236}">
                <a16:creationId xmlns:a16="http://schemas.microsoft.com/office/drawing/2014/main" id="{E3FF2458-25E8-CACB-0F44-5DF333428F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762660">
            <a:off x="3907725" y="2958242"/>
            <a:ext cx="1075288" cy="976235"/>
          </a:xfrm>
          <a:prstGeom prst="rect">
            <a:avLst/>
          </a:prstGeom>
        </p:spPr>
      </p:pic>
      <p:pic>
        <p:nvPicPr>
          <p:cNvPr id="173" name="Picture 172" descr="Water heater 120 L, 3 kW, enameled">
            <a:extLst>
              <a:ext uri="{FF2B5EF4-FFF2-40B4-BE49-F238E27FC236}">
                <a16:creationId xmlns:a16="http://schemas.microsoft.com/office/drawing/2014/main" id="{B8510BBF-468F-3B3F-47CD-14D71577A1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988" y="4026148"/>
            <a:ext cx="1384094" cy="1384094"/>
          </a:xfrm>
          <a:prstGeom prst="rect">
            <a:avLst/>
          </a:prstGeom>
        </p:spPr>
      </p:pic>
      <p:pic>
        <p:nvPicPr>
          <p:cNvPr id="177" name="Picture 176">
            <a:extLst>
              <a:ext uri="{FF2B5EF4-FFF2-40B4-BE49-F238E27FC236}">
                <a16:creationId xmlns:a16="http://schemas.microsoft.com/office/drawing/2014/main" id="{F2664EAD-C001-F301-C218-5E1937FA21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92477" y="5317622"/>
            <a:ext cx="681254" cy="9294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D5A7CA7-4DAA-F308-D91B-40017B52EA9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29780" y="2429854"/>
            <a:ext cx="2080464" cy="1560348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14" name="Picture 13" descr="Application - Free computer icons">
            <a:extLst>
              <a:ext uri="{FF2B5EF4-FFF2-40B4-BE49-F238E27FC236}">
                <a16:creationId xmlns:a16="http://schemas.microsoft.com/office/drawing/2014/main" id="{C9548CE6-25B6-B8B5-761C-6B8C2FEC453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44749" y="3288115"/>
            <a:ext cx="1354887" cy="1354887"/>
          </a:xfrm>
          <a:prstGeom prst="rect">
            <a:avLst/>
          </a:prstGeom>
        </p:spPr>
      </p:pic>
      <p:pic>
        <p:nvPicPr>
          <p:cNvPr id="15" name="Picture 14" descr="Application Design: Top 10 Elements For Apps - eLearning Industry">
            <a:extLst>
              <a:ext uri="{FF2B5EF4-FFF2-40B4-BE49-F238E27FC236}">
                <a16:creationId xmlns:a16="http://schemas.microsoft.com/office/drawing/2014/main" id="{B531C182-EC62-250A-CCBF-B8890BA10C81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17329"/>
          <a:stretch>
            <a:fillRect/>
          </a:stretch>
        </p:blipFill>
        <p:spPr>
          <a:xfrm>
            <a:off x="9600578" y="4601397"/>
            <a:ext cx="2088628" cy="1292605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3508261184"/>
      </p:ext>
    </p:extLst>
  </p:cSld>
  <p:clrMapOvr>
    <a:masterClrMapping/>
  </p:clrMapOvr>
  <p:transition spd="med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_194">
            <a:extLst>
              <a:ext uri="{FF2B5EF4-FFF2-40B4-BE49-F238E27FC236}">
                <a16:creationId xmlns:a16="http://schemas.microsoft.com/office/drawing/2014/main" id="{C70299EA-9766-4C17-2745-1A1428955FC3}"/>
              </a:ext>
            </a:extLst>
          </p:cNvPr>
          <p:cNvSpPr txBox="1"/>
          <p:nvPr/>
        </p:nvSpPr>
        <p:spPr>
          <a:xfrm>
            <a:off x="2694432" y="320039"/>
            <a:ext cx="6989064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7000"/>
              </a:lnSpc>
            </a:pPr>
            <a:r>
              <a:rPr lang="bg-BG" sz="4000" b="1" dirty="0">
                <a:solidFill>
                  <a:srgbClr val="223E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Един поглед – Една система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735526-37BB-B572-5D2F-06ECE3B8BC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50" y="150794"/>
            <a:ext cx="6656176" cy="296111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FDAF485-9F86-E252-9EF1-73173479FE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470" y="3140554"/>
            <a:ext cx="5058156" cy="314025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EC182B0-0621-C7EA-E129-46ECBF0DCA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3008">
            <a:off x="4931040" y="4036579"/>
            <a:ext cx="5656812" cy="192740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C475993-E5CD-D9D2-633C-7F3E25C3D7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253" y="671137"/>
            <a:ext cx="3326291" cy="3375041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BBF0DDD-883D-0F4C-525F-3F8F14196B3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3515" y="2382908"/>
            <a:ext cx="3374535" cy="2131428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050D464C-EB08-00CE-0B8C-BFD1A7F59B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8146" y="4046178"/>
            <a:ext cx="4605384" cy="269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232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750"/>
                            </p:stCondLst>
                            <p:childTnLst>
                              <p:par>
                                <p:cTn id="24" presetID="2" presetClass="entr" presetSubtype="6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75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750"/>
                            </p:stCondLst>
                            <p:childTnLst>
                              <p:par>
                                <p:cTn id="34" presetID="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675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Line_168">
            <a:extLst>
              <a:ext uri="{FF2B5EF4-FFF2-40B4-BE49-F238E27FC236}">
                <a16:creationId xmlns:a16="http://schemas.microsoft.com/office/drawing/2014/main" id="{9A74020E-EF0B-8238-E543-A499F11C328E}"/>
              </a:ext>
            </a:extLst>
          </p:cNvPr>
          <p:cNvCxnSpPr/>
          <p:nvPr/>
        </p:nvCxnSpPr>
        <p:spPr>
          <a:xfrm>
            <a:off x="609600" y="6299200"/>
            <a:ext cx="10972800" cy="0"/>
          </a:xfrm>
          <a:prstGeom prst="line">
            <a:avLst/>
          </a:prstGeom>
          <a:ln w="10160">
            <a:solidFill>
              <a:srgbClr val="D5DD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_169">
            <a:extLst>
              <a:ext uri="{FF2B5EF4-FFF2-40B4-BE49-F238E27FC236}">
                <a16:creationId xmlns:a16="http://schemas.microsoft.com/office/drawing/2014/main" id="{348E6756-9332-E2A1-3F23-58EF295DAC7E}"/>
              </a:ext>
            </a:extLst>
          </p:cNvPr>
          <p:cNvSpPr txBox="1"/>
          <p:nvPr/>
        </p:nvSpPr>
        <p:spPr>
          <a:xfrm>
            <a:off x="609600" y="6451600"/>
            <a:ext cx="54610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bg-BG" sz="1000" b="0" i="0" u="none" strike="noStrike" kern="1200" cap="none" spc="0" normalizeH="0" baseline="0" noProof="0">
                <a:ln>
                  <a:noFill/>
                </a:ln>
                <a:solidFill>
                  <a:srgbClr val="65726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OPTIMESH  /  КРАСНА ПОЛЯНА</a:t>
            </a:r>
            <a:endParaRPr kumimoji="0" lang="bg-BG" sz="1000" b="0" i="0" u="none" strike="noStrike" kern="1200" cap="none" spc="0" normalizeH="0" baseline="0" noProof="0" dirty="0">
              <a:ln>
                <a:noFill/>
              </a:ln>
              <a:solidFill>
                <a:srgbClr val="65726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pic>
        <p:nvPicPr>
          <p:cNvPr id="29" name="Picture 28" descr="File:Python-logo-notext.svg - Wikimedia Commons">
            <a:extLst>
              <a:ext uri="{FF2B5EF4-FFF2-40B4-BE49-F238E27FC236}">
                <a16:creationId xmlns:a16="http://schemas.microsoft.com/office/drawing/2014/main" id="{E064D844-686D-FD34-14ED-A6E6BF692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8594" y="4326619"/>
            <a:ext cx="1116609" cy="1116609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DDE2465C-B127-BBB1-029D-B37EF0A3B4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2634" y="3558921"/>
            <a:ext cx="2375002" cy="443472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BB822A49-75E8-2DEF-9237-605F67CC25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8436" y="615940"/>
            <a:ext cx="2779406" cy="5374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E151AA-763F-32CF-B113-01E0ACD12A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7053" y="1443386"/>
            <a:ext cx="1003082" cy="10344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5D305A-68FB-5EF2-9420-4F455BE945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0326" y="1443386"/>
            <a:ext cx="1003082" cy="100308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B6AB5D8-3244-47B6-6638-272F6FCA41B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73900" y="1521076"/>
            <a:ext cx="942660" cy="9426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9B65D91-A9C2-C9C7-35A0-8D64EE2CEE5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1456" y="4354015"/>
            <a:ext cx="1304620" cy="111786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3E6658A-E554-4088-ECBB-C71A0D10A47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92411" y="4484695"/>
            <a:ext cx="1051113" cy="105111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D3B6FC1-4B65-61CC-7898-65794782B86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7720" y="4484695"/>
            <a:ext cx="1047147" cy="104714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8FF3997-C2D3-FB38-3044-66AC4D55297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46019" y="3038729"/>
            <a:ext cx="2891932" cy="144596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7E353CC-3B29-5729-1C36-ED4D1B99127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4330" y="2446468"/>
            <a:ext cx="1457691" cy="1435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530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_268">
            <a:extLst>
              <a:ext uri="{FF2B5EF4-FFF2-40B4-BE49-F238E27FC236}">
                <a16:creationId xmlns:a16="http://schemas.microsoft.com/office/drawing/2014/main" id="{668A009C-BA12-181D-4140-0C770D982DB3}"/>
              </a:ext>
            </a:extLst>
          </p:cNvPr>
          <p:cNvSpPr txBox="1"/>
          <p:nvPr/>
        </p:nvSpPr>
        <p:spPr>
          <a:xfrm>
            <a:off x="987425" y="279400"/>
            <a:ext cx="1016635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7000"/>
              </a:lnSpc>
            </a:pPr>
            <a:r>
              <a:rPr sz="4000" b="1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Влез</a:t>
            </a:r>
            <a:r>
              <a:rPr sz="40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в </a:t>
            </a:r>
            <a:r>
              <a:rPr sz="4000" b="1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ролята</a:t>
            </a:r>
            <a:r>
              <a:rPr sz="40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на </a:t>
            </a:r>
            <a:r>
              <a:rPr sz="4000" b="1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енергийния</a:t>
            </a:r>
            <a:r>
              <a:rPr sz="40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sz="4000" b="1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мениджър</a:t>
            </a:r>
            <a:r>
              <a:rPr sz="40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  <a:endParaRPr lang="bg-BG" sz="4400" b="1" dirty="0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" name="Text_269">
            <a:extLst>
              <a:ext uri="{FF2B5EF4-FFF2-40B4-BE49-F238E27FC236}">
                <a16:creationId xmlns:a16="http://schemas.microsoft.com/office/drawing/2014/main" id="{FFD80574-7552-D387-8092-3F79C2680D63}"/>
              </a:ext>
            </a:extLst>
          </p:cNvPr>
          <p:cNvSpPr txBox="1"/>
          <p:nvPr/>
        </p:nvSpPr>
        <p:spPr>
          <a:xfrm>
            <a:off x="2708274" y="1365250"/>
            <a:ext cx="7359269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7000"/>
              </a:lnSpc>
            </a:pPr>
            <a:r>
              <a:rPr sz="1650" b="0" dirty="0" err="1">
                <a:solidFill>
                  <a:srgbClr val="BACD91"/>
                </a:solidFill>
                <a:latin typeface="Segoe UI"/>
              </a:rPr>
              <a:t>Управлявай</a:t>
            </a:r>
            <a:r>
              <a:rPr sz="1650" b="0" dirty="0">
                <a:solidFill>
                  <a:srgbClr val="BACD91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BACD91"/>
                </a:solidFill>
                <a:latin typeface="Segoe UI"/>
              </a:rPr>
              <a:t>един</a:t>
            </a:r>
            <a:r>
              <a:rPr sz="1650" b="0" dirty="0">
                <a:solidFill>
                  <a:srgbClr val="BACD91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BACD91"/>
                </a:solidFill>
                <a:latin typeface="Segoe UI"/>
              </a:rPr>
              <a:t>офисен</a:t>
            </a:r>
            <a:r>
              <a:rPr sz="1650" b="0" dirty="0">
                <a:solidFill>
                  <a:srgbClr val="BACD91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BACD91"/>
                </a:solidFill>
                <a:latin typeface="Segoe UI"/>
              </a:rPr>
              <a:t>ден</a:t>
            </a:r>
            <a:r>
              <a:rPr sz="1650" b="0" dirty="0">
                <a:solidFill>
                  <a:srgbClr val="BACD91"/>
                </a:solidFill>
                <a:latin typeface="Segoe UI"/>
              </a:rPr>
              <a:t> — Opti </a:t>
            </a:r>
            <a:r>
              <a:rPr sz="1650" b="0" dirty="0" err="1">
                <a:solidFill>
                  <a:srgbClr val="BACD91"/>
                </a:solidFill>
                <a:latin typeface="Segoe UI"/>
              </a:rPr>
              <a:t>подсказва</a:t>
            </a:r>
            <a:r>
              <a:rPr sz="1650" b="0" dirty="0">
                <a:solidFill>
                  <a:srgbClr val="BACD91"/>
                </a:solidFill>
                <a:latin typeface="Segoe UI"/>
              </a:rPr>
              <a:t>, </a:t>
            </a:r>
            <a:r>
              <a:rPr sz="1650" b="0" dirty="0" err="1">
                <a:solidFill>
                  <a:srgbClr val="BACD91"/>
                </a:solidFill>
                <a:latin typeface="Segoe UI"/>
              </a:rPr>
              <a:t>решенията</a:t>
            </a:r>
            <a:r>
              <a:rPr sz="1650" b="0" dirty="0">
                <a:solidFill>
                  <a:srgbClr val="BACD91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BACD91"/>
                </a:solidFill>
                <a:latin typeface="Segoe UI"/>
              </a:rPr>
              <a:t>са</a:t>
            </a:r>
            <a:r>
              <a:rPr sz="1650" b="0" dirty="0">
                <a:solidFill>
                  <a:srgbClr val="BACD91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BACD91"/>
                </a:solidFill>
                <a:latin typeface="Segoe UI"/>
              </a:rPr>
              <a:t>твои</a:t>
            </a:r>
            <a:r>
              <a:rPr sz="1650" b="0" dirty="0">
                <a:solidFill>
                  <a:srgbClr val="BACD91"/>
                </a:solidFill>
                <a:latin typeface="Segoe UI"/>
              </a:rPr>
              <a:t>.</a:t>
            </a:r>
            <a:endParaRPr lang="bg-BG" sz="1700" dirty="0">
              <a:solidFill>
                <a:srgbClr val="BACD91"/>
              </a:solidFill>
              <a:latin typeface="Segoe UI" panose="020B0502040204020203" pitchFamily="34" charset="0"/>
            </a:endParaRPr>
          </a:p>
        </p:txBody>
      </p:sp>
      <p:cxnSp>
        <p:nvCxnSpPr>
          <p:cNvPr id="5" name="Line_270">
            <a:extLst>
              <a:ext uri="{FF2B5EF4-FFF2-40B4-BE49-F238E27FC236}">
                <a16:creationId xmlns:a16="http://schemas.microsoft.com/office/drawing/2014/main" id="{37B1D633-9C40-F871-91A5-FE5FB99055F0}"/>
              </a:ext>
            </a:extLst>
          </p:cNvPr>
          <p:cNvCxnSpPr/>
          <p:nvPr/>
        </p:nvCxnSpPr>
        <p:spPr>
          <a:xfrm>
            <a:off x="609600" y="6299200"/>
            <a:ext cx="10972800" cy="0"/>
          </a:xfrm>
          <a:prstGeom prst="line">
            <a:avLst/>
          </a:prstGeom>
          <a:ln w="10160">
            <a:solidFill>
              <a:srgbClr val="3458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_271">
            <a:extLst>
              <a:ext uri="{FF2B5EF4-FFF2-40B4-BE49-F238E27FC236}">
                <a16:creationId xmlns:a16="http://schemas.microsoft.com/office/drawing/2014/main" id="{D08E88B0-7D66-8DD5-611F-4B0D6AD91D09}"/>
              </a:ext>
            </a:extLst>
          </p:cNvPr>
          <p:cNvSpPr txBox="1"/>
          <p:nvPr/>
        </p:nvSpPr>
        <p:spPr>
          <a:xfrm>
            <a:off x="609600" y="6451600"/>
            <a:ext cx="54610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7000"/>
              </a:lnSpc>
            </a:pPr>
            <a:r>
              <a:rPr lang="bg-BG" sz="1000">
                <a:solidFill>
                  <a:srgbClr val="BACD91"/>
                </a:solidFill>
                <a:latin typeface="Segoe UI" panose="020B0502040204020203" pitchFamily="34" charset="0"/>
              </a:rPr>
              <a:t>OPTIMESH  /  КРАСНА ПОЛЯНА</a:t>
            </a:r>
            <a:endParaRPr lang="bg-BG" sz="1000" dirty="0">
              <a:solidFill>
                <a:srgbClr val="BACD91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xt_273">
            <a:extLst>
              <a:ext uri="{FF2B5EF4-FFF2-40B4-BE49-F238E27FC236}">
                <a16:creationId xmlns:a16="http://schemas.microsoft.com/office/drawing/2014/main" id="{7ABEB2F5-F605-13ED-205B-0F4680C136D7}"/>
              </a:ext>
            </a:extLst>
          </p:cNvPr>
          <p:cNvSpPr txBox="1"/>
          <p:nvPr/>
        </p:nvSpPr>
        <p:spPr>
          <a:xfrm>
            <a:off x="1162050" y="2463802"/>
            <a:ext cx="3483102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7000"/>
              </a:lnSpc>
            </a:pPr>
            <a:r>
              <a:rPr lang="en-US" sz="28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5</a:t>
            </a:r>
            <a:r>
              <a:rPr sz="28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bg-BG" sz="28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задачи – 1 цел</a:t>
            </a:r>
            <a:r>
              <a:rPr lang="en-US" sz="28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:</a:t>
            </a:r>
            <a:endParaRPr lang="bg-BG" sz="2800" b="1" dirty="0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Text_274">
            <a:extLst>
              <a:ext uri="{FF2B5EF4-FFF2-40B4-BE49-F238E27FC236}">
                <a16:creationId xmlns:a16="http://schemas.microsoft.com/office/drawing/2014/main" id="{5AA2BBB6-1A00-7C61-9BB9-A757B55E6FDE}"/>
              </a:ext>
            </a:extLst>
          </p:cNvPr>
          <p:cNvSpPr txBox="1"/>
          <p:nvPr/>
        </p:nvSpPr>
        <p:spPr>
          <a:xfrm>
            <a:off x="898524" y="2997200"/>
            <a:ext cx="3927475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7000"/>
              </a:lnSpc>
            </a:pPr>
            <a:r>
              <a:rPr lang="bg-BG" sz="2000" b="1" noProof="0" dirty="0">
                <a:solidFill>
                  <a:srgbClr val="BACD91"/>
                </a:solidFill>
                <a:latin typeface="Segoe UI" panose="020B0502040204020203" pitchFamily="34" charset="0"/>
              </a:rPr>
              <a:t>Намери най-евтиния метод!</a:t>
            </a:r>
          </a:p>
        </p:txBody>
      </p:sp>
      <p:cxnSp>
        <p:nvCxnSpPr>
          <p:cNvPr id="10" name="Line_275">
            <a:extLst>
              <a:ext uri="{FF2B5EF4-FFF2-40B4-BE49-F238E27FC236}">
                <a16:creationId xmlns:a16="http://schemas.microsoft.com/office/drawing/2014/main" id="{F125F48F-3B37-B101-51F9-35A8A1290921}"/>
              </a:ext>
            </a:extLst>
          </p:cNvPr>
          <p:cNvCxnSpPr/>
          <p:nvPr/>
        </p:nvCxnSpPr>
        <p:spPr>
          <a:xfrm>
            <a:off x="609600" y="3594100"/>
            <a:ext cx="4216400" cy="0"/>
          </a:xfrm>
          <a:prstGeom prst="line">
            <a:avLst/>
          </a:prstGeom>
          <a:ln w="12700">
            <a:solidFill>
              <a:srgbClr val="4563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_276">
            <a:extLst>
              <a:ext uri="{FF2B5EF4-FFF2-40B4-BE49-F238E27FC236}">
                <a16:creationId xmlns:a16="http://schemas.microsoft.com/office/drawing/2014/main" id="{42AF6A20-D1A4-0B6C-C78B-7BD0EF9939E0}"/>
              </a:ext>
            </a:extLst>
          </p:cNvPr>
          <p:cNvSpPr txBox="1"/>
          <p:nvPr/>
        </p:nvSpPr>
        <p:spPr>
          <a:xfrm>
            <a:off x="419100" y="3867148"/>
            <a:ext cx="4699000" cy="151130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3000"/>
              </a:lnSpc>
            </a:pPr>
            <a:r>
              <a:rPr lang="bg-BG" sz="1850" dirty="0">
                <a:solidFill>
                  <a:srgbClr val="FFFFFF"/>
                </a:solidFill>
                <a:latin typeface="Segoe UI"/>
              </a:rPr>
              <a:t>Контролирай източници – соларни панели, батерия и мрежата.</a:t>
            </a:r>
            <a:br>
              <a:rPr lang="de-DE" sz="1850" dirty="0">
                <a:solidFill>
                  <a:srgbClr val="FFFFFF"/>
                </a:solidFill>
                <a:latin typeface="Segoe UI"/>
              </a:rPr>
            </a:br>
            <a:br>
              <a:rPr lang="bg-BG" sz="1850" dirty="0">
                <a:solidFill>
                  <a:srgbClr val="FFFFFF"/>
                </a:solidFill>
                <a:latin typeface="Segoe UI"/>
              </a:rPr>
            </a:br>
            <a:r>
              <a:rPr lang="bg-BG" sz="1850" dirty="0">
                <a:solidFill>
                  <a:srgbClr val="FFFFFF"/>
                </a:solidFill>
                <a:latin typeface="Segoe UI"/>
              </a:rPr>
              <a:t>Създай максимално удобство за потребителите – внимавай за изненади!</a:t>
            </a:r>
            <a:endParaRPr sz="1850" dirty="0">
              <a:solidFill>
                <a:srgbClr val="FFFFFF"/>
              </a:solidFill>
              <a:latin typeface="Segoe UI"/>
            </a:endParaRPr>
          </a:p>
        </p:txBody>
      </p:sp>
      <p:cxnSp>
        <p:nvCxnSpPr>
          <p:cNvPr id="14" name="Line_279">
            <a:extLst>
              <a:ext uri="{FF2B5EF4-FFF2-40B4-BE49-F238E27FC236}">
                <a16:creationId xmlns:a16="http://schemas.microsoft.com/office/drawing/2014/main" id="{7AFE8BC2-4F70-C652-052D-E87E9E77E915}"/>
              </a:ext>
            </a:extLst>
          </p:cNvPr>
          <p:cNvCxnSpPr/>
          <p:nvPr/>
        </p:nvCxnSpPr>
        <p:spPr>
          <a:xfrm>
            <a:off x="8210550" y="3644900"/>
            <a:ext cx="558800" cy="0"/>
          </a:xfrm>
          <a:prstGeom prst="line">
            <a:avLst/>
          </a:prstGeom>
          <a:ln w="15240">
            <a:solidFill>
              <a:srgbClr val="739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_280">
            <a:extLst>
              <a:ext uri="{FF2B5EF4-FFF2-40B4-BE49-F238E27FC236}">
                <a16:creationId xmlns:a16="http://schemas.microsoft.com/office/drawing/2014/main" id="{C6C3BFF8-08E3-2649-AA85-0C09B98933E5}"/>
              </a:ext>
            </a:extLst>
          </p:cNvPr>
          <p:cNvSpPr txBox="1"/>
          <p:nvPr/>
        </p:nvSpPr>
        <p:spPr>
          <a:xfrm>
            <a:off x="5676900" y="3987799"/>
            <a:ext cx="56261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7000"/>
              </a:lnSpc>
            </a:pPr>
            <a:r>
              <a:rPr sz="1500" b="1">
                <a:solidFill>
                  <a:srgbClr val="BACD91"/>
                </a:solidFill>
                <a:latin typeface="Segoe UI Semibold"/>
              </a:rPr>
              <a:t>МЯСТО ЗА ЕКРАН</a:t>
            </a:r>
          </a:p>
          <a:p>
            <a:pPr algn="ctr"/>
            <a:r>
              <a:rPr sz="1500" b="1">
                <a:solidFill>
                  <a:srgbClr val="BACD91"/>
                </a:solidFill>
                <a:latin typeface="Segoe UI Semibold"/>
              </a:rPr>
              <a:t>ОТ ИГРАТА</a:t>
            </a:r>
          </a:p>
        </p:txBody>
      </p:sp>
      <p:sp>
        <p:nvSpPr>
          <p:cNvPr id="16" name="Text_281">
            <a:extLst>
              <a:ext uri="{FF2B5EF4-FFF2-40B4-BE49-F238E27FC236}">
                <a16:creationId xmlns:a16="http://schemas.microsoft.com/office/drawing/2014/main" id="{71894EC7-6802-36DC-A55E-0CF613D7515A}"/>
              </a:ext>
            </a:extLst>
          </p:cNvPr>
          <p:cNvSpPr txBox="1"/>
          <p:nvPr/>
        </p:nvSpPr>
        <p:spPr>
          <a:xfrm>
            <a:off x="5676900" y="4711699"/>
            <a:ext cx="56261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7000"/>
              </a:lnSpc>
            </a:pPr>
            <a:r>
              <a:rPr sz="1300" b="0">
                <a:solidFill>
                  <a:srgbClr val="BACD91"/>
                </a:solidFill>
                <a:latin typeface="Segoe UI"/>
              </a:rPr>
              <a:t>Gameplay — управление на офисния ден</a:t>
            </a:r>
            <a:endParaRPr lang="bg-BG" sz="1300" dirty="0">
              <a:solidFill>
                <a:srgbClr val="BACD91"/>
              </a:solidFill>
              <a:latin typeface="Segoe UI" panose="020B0502040204020203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9439F7A-B46E-71AE-2FD1-9CCBE36960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200" y="2396331"/>
            <a:ext cx="6261100" cy="3521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344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_283">
            <a:extLst>
              <a:ext uri="{FF2B5EF4-FFF2-40B4-BE49-F238E27FC236}">
                <a16:creationId xmlns:a16="http://schemas.microsoft.com/office/drawing/2014/main" id="{25825252-6557-10D6-CB9B-6031A45083D9}"/>
              </a:ext>
            </a:extLst>
          </p:cNvPr>
          <p:cNvSpPr txBox="1"/>
          <p:nvPr/>
        </p:nvSpPr>
        <p:spPr>
          <a:xfrm>
            <a:off x="3918667" y="543304"/>
            <a:ext cx="50038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7000"/>
              </a:lnSpc>
            </a:pPr>
            <a:r>
              <a:rPr lang="en-US" sz="4400" b="1" dirty="0">
                <a:solidFill>
                  <a:srgbClr val="223E35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</a:t>
            </a:r>
            <a:r>
              <a:rPr sz="4400" b="1" dirty="0">
                <a:solidFill>
                  <a:srgbClr val="223E35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sz="4400" b="1" dirty="0" err="1">
                <a:solidFill>
                  <a:srgbClr val="223E35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ден</a:t>
            </a:r>
            <a:r>
              <a:rPr lang="en-US" sz="4400" b="1" dirty="0">
                <a:solidFill>
                  <a:srgbClr val="223E35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-</a:t>
            </a:r>
            <a:r>
              <a:rPr sz="4400" b="1" dirty="0">
                <a:solidFill>
                  <a:srgbClr val="223E35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4400" b="1" dirty="0">
                <a:solidFill>
                  <a:srgbClr val="223E35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3</a:t>
            </a:r>
            <a:r>
              <a:rPr sz="4400" b="1" dirty="0">
                <a:solidFill>
                  <a:srgbClr val="223E35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sz="4400" b="1" dirty="0" err="1">
                <a:solidFill>
                  <a:srgbClr val="223E35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подхода</a:t>
            </a:r>
            <a:r>
              <a:rPr lang="en-US" sz="4400" b="1" dirty="0">
                <a:solidFill>
                  <a:srgbClr val="223E35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:</a:t>
            </a:r>
            <a:endParaRPr lang="bg-BG" sz="4400" b="1" dirty="0">
              <a:solidFill>
                <a:srgbClr val="223E35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5" name="Line_285">
            <a:extLst>
              <a:ext uri="{FF2B5EF4-FFF2-40B4-BE49-F238E27FC236}">
                <a16:creationId xmlns:a16="http://schemas.microsoft.com/office/drawing/2014/main" id="{B347967C-DEA4-720A-919C-65C27E67C7EC}"/>
              </a:ext>
            </a:extLst>
          </p:cNvPr>
          <p:cNvCxnSpPr/>
          <p:nvPr/>
        </p:nvCxnSpPr>
        <p:spPr>
          <a:xfrm>
            <a:off x="609600" y="6299200"/>
            <a:ext cx="10972800" cy="0"/>
          </a:xfrm>
          <a:prstGeom prst="line">
            <a:avLst/>
          </a:prstGeom>
          <a:ln w="10160">
            <a:solidFill>
              <a:srgbClr val="D5DD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_286">
            <a:extLst>
              <a:ext uri="{FF2B5EF4-FFF2-40B4-BE49-F238E27FC236}">
                <a16:creationId xmlns:a16="http://schemas.microsoft.com/office/drawing/2014/main" id="{6D193145-A3EC-0235-6CDF-E454D35010BF}"/>
              </a:ext>
            </a:extLst>
          </p:cNvPr>
          <p:cNvSpPr txBox="1"/>
          <p:nvPr/>
        </p:nvSpPr>
        <p:spPr>
          <a:xfrm>
            <a:off x="609600" y="6451600"/>
            <a:ext cx="54610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7000"/>
              </a:lnSpc>
            </a:pPr>
            <a:r>
              <a:rPr lang="bg-BG" sz="1000">
                <a:solidFill>
                  <a:srgbClr val="657268"/>
                </a:solidFill>
                <a:latin typeface="Segoe UI" panose="020B0502040204020203" pitchFamily="34" charset="0"/>
              </a:rPr>
              <a:t>OPTIMESH  /  КРАСНА ПОЛЯНА</a:t>
            </a:r>
            <a:endParaRPr lang="bg-BG" sz="1000" dirty="0">
              <a:solidFill>
                <a:srgbClr val="657268"/>
              </a:solidFill>
              <a:latin typeface="Segoe UI" panose="020B0502040204020203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C2DFAD4-3836-BED6-044F-E733CDAA7688}"/>
              </a:ext>
            </a:extLst>
          </p:cNvPr>
          <p:cNvGrpSpPr/>
          <p:nvPr/>
        </p:nvGrpSpPr>
        <p:grpSpPr>
          <a:xfrm>
            <a:off x="321393" y="2132201"/>
            <a:ext cx="5165007" cy="2876551"/>
            <a:chOff x="321393" y="2132201"/>
            <a:chExt cx="5969000" cy="2876551"/>
          </a:xfrm>
        </p:grpSpPr>
        <p:sp>
          <p:nvSpPr>
            <p:cNvPr id="8" name="Vector_288">
              <a:extLst>
                <a:ext uri="{FF2B5EF4-FFF2-40B4-BE49-F238E27FC236}">
                  <a16:creationId xmlns:a16="http://schemas.microsoft.com/office/drawing/2014/main" id="{D8394781-8103-8829-0F5D-ED807872D1C4}"/>
                </a:ext>
              </a:extLst>
            </p:cNvPr>
            <p:cNvSpPr/>
            <p:nvPr/>
          </p:nvSpPr>
          <p:spPr>
            <a:xfrm>
              <a:off x="321393" y="2132201"/>
              <a:ext cx="5969000" cy="520700"/>
            </a:xfrm>
            <a:prstGeom prst="rect">
              <a:avLst/>
            </a:prstGeom>
            <a:solidFill>
              <a:srgbClr val="173C3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_289">
              <a:extLst>
                <a:ext uri="{FF2B5EF4-FFF2-40B4-BE49-F238E27FC236}">
                  <a16:creationId xmlns:a16="http://schemas.microsoft.com/office/drawing/2014/main" id="{02179568-B7F1-57CD-0493-5E5855ADA810}"/>
                </a:ext>
              </a:extLst>
            </p:cNvPr>
            <p:cNvSpPr txBox="1"/>
            <p:nvPr/>
          </p:nvSpPr>
          <p:spPr>
            <a:xfrm>
              <a:off x="934320" y="2305748"/>
              <a:ext cx="1074016" cy="254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07000"/>
                </a:lnSpc>
              </a:pPr>
              <a:r>
                <a:rPr sz="1100" b="1" dirty="0">
                  <a:solidFill>
                    <a:srgbClr val="FFFFFF"/>
                  </a:solidFill>
                  <a:latin typeface="Segoe UI Semibold"/>
                </a:rPr>
                <a:t>ПОДХОД</a:t>
              </a:r>
              <a:endParaRPr lang="bg-BG" sz="1100" b="1" dirty="0">
                <a:solidFill>
                  <a:srgbClr val="FFFFFF"/>
                </a:solidFill>
                <a:latin typeface="Segoe UI Semibold" panose="020B0702040204020203" pitchFamily="34" charset="0"/>
              </a:endParaRPr>
            </a:p>
          </p:txBody>
        </p:sp>
        <p:sp>
          <p:nvSpPr>
            <p:cNvPr id="10" name="Text_290">
              <a:extLst>
                <a:ext uri="{FF2B5EF4-FFF2-40B4-BE49-F238E27FC236}">
                  <a16:creationId xmlns:a16="http://schemas.microsoft.com/office/drawing/2014/main" id="{163E4F7F-CCD6-3AFE-2C79-334CB258807A}"/>
                </a:ext>
              </a:extLst>
            </p:cNvPr>
            <p:cNvSpPr txBox="1"/>
            <p:nvPr/>
          </p:nvSpPr>
          <p:spPr>
            <a:xfrm>
              <a:off x="2621262" y="2302828"/>
              <a:ext cx="1270906" cy="254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>
                <a:lnSpc>
                  <a:spcPct val="107000"/>
                </a:lnSpc>
              </a:pPr>
              <a:r>
                <a:rPr sz="1100" b="1" dirty="0">
                  <a:solidFill>
                    <a:srgbClr val="BACD91"/>
                  </a:solidFill>
                  <a:latin typeface="Segoe UI Semibold"/>
                </a:rPr>
                <a:t>КАК РАБОТИ</a:t>
              </a:r>
              <a:endParaRPr lang="bg-BG" sz="1100" b="1" dirty="0">
                <a:solidFill>
                  <a:srgbClr val="BACD91"/>
                </a:solidFill>
                <a:latin typeface="Segoe UI Semibold" panose="020B0702040204020203" pitchFamily="34" charset="0"/>
              </a:endParaRPr>
            </a:p>
          </p:txBody>
        </p:sp>
        <p:sp>
          <p:nvSpPr>
            <p:cNvPr id="11" name="Text_291">
              <a:extLst>
                <a:ext uri="{FF2B5EF4-FFF2-40B4-BE49-F238E27FC236}">
                  <a16:creationId xmlns:a16="http://schemas.microsoft.com/office/drawing/2014/main" id="{B7028CE5-006F-594C-F25A-737357BB7CA3}"/>
                </a:ext>
              </a:extLst>
            </p:cNvPr>
            <p:cNvSpPr txBox="1"/>
            <p:nvPr/>
          </p:nvSpPr>
          <p:spPr>
            <a:xfrm>
              <a:off x="4842593" y="2281808"/>
              <a:ext cx="952500" cy="254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>
                <a:lnSpc>
                  <a:spcPct val="107000"/>
                </a:lnSpc>
              </a:pPr>
              <a:r>
                <a:rPr sz="1100" b="1" dirty="0">
                  <a:solidFill>
                    <a:srgbClr val="FFFFFF"/>
                  </a:solidFill>
                  <a:latin typeface="Segoe UI Semibold"/>
                </a:rPr>
                <a:t>РОЛЯ</a:t>
              </a:r>
              <a:endParaRPr lang="bg-BG" sz="1100" b="1" dirty="0">
                <a:solidFill>
                  <a:srgbClr val="FFFFFF"/>
                </a:solidFill>
                <a:latin typeface="Segoe UI Semibold" panose="020B0702040204020203" pitchFamily="34" charset="0"/>
              </a:endParaRPr>
            </a:p>
          </p:txBody>
        </p:sp>
        <p:sp>
          <p:nvSpPr>
            <p:cNvPr id="12" name="Vector_292">
              <a:extLst>
                <a:ext uri="{FF2B5EF4-FFF2-40B4-BE49-F238E27FC236}">
                  <a16:creationId xmlns:a16="http://schemas.microsoft.com/office/drawing/2014/main" id="{981B7B48-10CA-2B47-1F63-7523FD2CE1A4}"/>
                </a:ext>
              </a:extLst>
            </p:cNvPr>
            <p:cNvSpPr/>
            <p:nvPr/>
          </p:nvSpPr>
          <p:spPr>
            <a:xfrm>
              <a:off x="321393" y="2646552"/>
              <a:ext cx="5969000" cy="7874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_293">
              <a:extLst>
                <a:ext uri="{FF2B5EF4-FFF2-40B4-BE49-F238E27FC236}">
                  <a16:creationId xmlns:a16="http://schemas.microsoft.com/office/drawing/2014/main" id="{77852331-937C-E63F-3CBA-22750ECC2291}"/>
                </a:ext>
              </a:extLst>
            </p:cNvPr>
            <p:cNvSpPr txBox="1"/>
            <p:nvPr/>
          </p:nvSpPr>
          <p:spPr>
            <a:xfrm>
              <a:off x="527651" y="2900551"/>
              <a:ext cx="1877221" cy="3683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07000"/>
                </a:lnSpc>
              </a:pPr>
              <a:r>
                <a:rPr sz="1400" dirty="0" err="1">
                  <a:solidFill>
                    <a:srgbClr val="223E35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Нормална</a:t>
              </a:r>
              <a:r>
                <a:rPr sz="1400" dirty="0">
                  <a:solidFill>
                    <a:srgbClr val="223E35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 </a:t>
              </a:r>
              <a:r>
                <a:rPr sz="1400" dirty="0" err="1">
                  <a:solidFill>
                    <a:srgbClr val="223E35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работа</a:t>
              </a:r>
              <a:endParaRPr lang="bg-BG" sz="1400" dirty="0">
                <a:solidFill>
                  <a:srgbClr val="223E35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14" name="Text_294">
              <a:extLst>
                <a:ext uri="{FF2B5EF4-FFF2-40B4-BE49-F238E27FC236}">
                  <a16:creationId xmlns:a16="http://schemas.microsoft.com/office/drawing/2014/main" id="{B50F0650-DC88-9346-A139-13033FB4A820}"/>
                </a:ext>
              </a:extLst>
            </p:cNvPr>
            <p:cNvSpPr txBox="1"/>
            <p:nvPr/>
          </p:nvSpPr>
          <p:spPr>
            <a:xfrm>
              <a:off x="2479559" y="2800598"/>
              <a:ext cx="1554315" cy="571501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>
                <a:lnSpc>
                  <a:spcPct val="107000"/>
                </a:lnSpc>
              </a:pPr>
              <a:r>
                <a:rPr sz="1400" b="0" dirty="0" err="1">
                  <a:solidFill>
                    <a:srgbClr val="223E35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Обичайни</a:t>
              </a:r>
              <a:r>
                <a:rPr sz="1400" b="0" dirty="0">
                  <a:solidFill>
                    <a:srgbClr val="223E35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 </a:t>
              </a:r>
              <a:r>
                <a:rPr sz="1400" b="0" dirty="0" err="1">
                  <a:solidFill>
                    <a:srgbClr val="223E35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настройки</a:t>
              </a:r>
              <a:endParaRPr lang="bg-BG" sz="1400" dirty="0">
                <a:solidFill>
                  <a:srgbClr val="223E35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15" name="Text_295">
              <a:extLst>
                <a:ext uri="{FF2B5EF4-FFF2-40B4-BE49-F238E27FC236}">
                  <a16:creationId xmlns:a16="http://schemas.microsoft.com/office/drawing/2014/main" id="{4589083D-F1E5-C9C9-E3E4-956C6A0D7425}"/>
                </a:ext>
              </a:extLst>
            </p:cNvPr>
            <p:cNvSpPr txBox="1"/>
            <p:nvPr/>
          </p:nvSpPr>
          <p:spPr>
            <a:xfrm>
              <a:off x="4388441" y="2888424"/>
              <a:ext cx="1798320" cy="292608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>
                <a:lnSpc>
                  <a:spcPct val="107000"/>
                </a:lnSpc>
              </a:pPr>
              <a:r>
                <a:rPr sz="1400" dirty="0" err="1">
                  <a:solidFill>
                    <a:srgbClr val="173C34"/>
                  </a:solidFill>
                  <a:latin typeface="Segoe UI Semibold"/>
                </a:rPr>
                <a:t>Без</a:t>
              </a:r>
              <a:r>
                <a:rPr sz="1400" dirty="0">
                  <a:solidFill>
                    <a:srgbClr val="173C34"/>
                  </a:solidFill>
                  <a:latin typeface="Segoe UI Semibold"/>
                </a:rPr>
                <a:t> </a:t>
              </a:r>
              <a:r>
                <a:rPr sz="1400" dirty="0" err="1">
                  <a:solidFill>
                    <a:srgbClr val="173C34"/>
                  </a:solidFill>
                  <a:latin typeface="Segoe UI Semibold"/>
                </a:rPr>
                <a:t>планиране</a:t>
              </a:r>
              <a:endParaRPr lang="bg-BG" dirty="0">
                <a:solidFill>
                  <a:srgbClr val="173C34"/>
                </a:solidFill>
                <a:latin typeface="Segoe UI Semibold" panose="020B0702040204020203" pitchFamily="34" charset="0"/>
              </a:endParaRPr>
            </a:p>
          </p:txBody>
        </p:sp>
        <p:sp>
          <p:nvSpPr>
            <p:cNvPr id="16" name="Vector_296">
              <a:extLst>
                <a:ext uri="{FF2B5EF4-FFF2-40B4-BE49-F238E27FC236}">
                  <a16:creationId xmlns:a16="http://schemas.microsoft.com/office/drawing/2014/main" id="{059C6166-3929-AD95-AAB9-9AFB1927257A}"/>
                </a:ext>
              </a:extLst>
            </p:cNvPr>
            <p:cNvSpPr/>
            <p:nvPr/>
          </p:nvSpPr>
          <p:spPr>
            <a:xfrm>
              <a:off x="321393" y="3433952"/>
              <a:ext cx="5969000" cy="787400"/>
            </a:xfrm>
            <a:prstGeom prst="rect">
              <a:avLst/>
            </a:prstGeom>
            <a:solidFill>
              <a:srgbClr val="E8EDDA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17" name="Text_297">
              <a:extLst>
                <a:ext uri="{FF2B5EF4-FFF2-40B4-BE49-F238E27FC236}">
                  <a16:creationId xmlns:a16="http://schemas.microsoft.com/office/drawing/2014/main" id="{687D5734-4864-2225-ECCC-7DC4BD75A2FD}"/>
                </a:ext>
              </a:extLst>
            </p:cNvPr>
            <p:cNvSpPr txBox="1"/>
            <p:nvPr/>
          </p:nvSpPr>
          <p:spPr>
            <a:xfrm>
              <a:off x="866802" y="3713545"/>
              <a:ext cx="958768" cy="298451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>
                <a:lnSpc>
                  <a:spcPct val="107000"/>
                </a:lnSpc>
              </a:pPr>
              <a:r>
                <a:rPr sz="1400" dirty="0" err="1">
                  <a:solidFill>
                    <a:srgbClr val="223E35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Играч</a:t>
              </a:r>
              <a:endParaRPr lang="bg-BG" sz="1400" dirty="0">
                <a:solidFill>
                  <a:srgbClr val="223E35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18" name="Text_298">
              <a:extLst>
                <a:ext uri="{FF2B5EF4-FFF2-40B4-BE49-F238E27FC236}">
                  <a16:creationId xmlns:a16="http://schemas.microsoft.com/office/drawing/2014/main" id="{27F605BE-8A70-E573-7FFE-6A46B89DB24D}"/>
                </a:ext>
              </a:extLst>
            </p:cNvPr>
            <p:cNvSpPr txBox="1"/>
            <p:nvPr/>
          </p:nvSpPr>
          <p:spPr>
            <a:xfrm>
              <a:off x="2528733" y="3554284"/>
              <a:ext cx="1455965" cy="530224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>
                <a:lnSpc>
                  <a:spcPct val="107000"/>
                </a:lnSpc>
              </a:pPr>
              <a:r>
                <a:rPr sz="1400" dirty="0" err="1">
                  <a:solidFill>
                    <a:srgbClr val="223E35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Ръчни</a:t>
              </a:r>
              <a:r>
                <a:rPr sz="1400" dirty="0">
                  <a:solidFill>
                    <a:srgbClr val="223E35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 </a:t>
              </a:r>
              <a:r>
                <a:rPr sz="1400" dirty="0" err="1">
                  <a:solidFill>
                    <a:srgbClr val="223E35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решения</a:t>
              </a:r>
              <a:endParaRPr lang="bg-BG" sz="1600" dirty="0">
                <a:solidFill>
                  <a:srgbClr val="223E35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19" name="Text_299">
              <a:extLst>
                <a:ext uri="{FF2B5EF4-FFF2-40B4-BE49-F238E27FC236}">
                  <a16:creationId xmlns:a16="http://schemas.microsoft.com/office/drawing/2014/main" id="{14DDC993-7518-5CCB-7E8A-556C550D533E}"/>
                </a:ext>
              </a:extLst>
            </p:cNvPr>
            <p:cNvSpPr txBox="1"/>
            <p:nvPr/>
          </p:nvSpPr>
          <p:spPr>
            <a:xfrm>
              <a:off x="4541685" y="3568952"/>
              <a:ext cx="1554315" cy="51041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>
                <a:lnSpc>
                  <a:spcPct val="107000"/>
                </a:lnSpc>
              </a:pPr>
              <a:r>
                <a:rPr sz="1400" dirty="0" err="1">
                  <a:solidFill>
                    <a:srgbClr val="173C34"/>
                  </a:solidFill>
                  <a:latin typeface="Segoe UI Semibold"/>
                </a:rPr>
                <a:t>Твоята</a:t>
              </a:r>
              <a:r>
                <a:rPr sz="1400" dirty="0">
                  <a:solidFill>
                    <a:srgbClr val="173C34"/>
                  </a:solidFill>
                  <a:latin typeface="Segoe UI Semibold"/>
                </a:rPr>
                <a:t> </a:t>
              </a:r>
              <a:r>
                <a:rPr sz="1400" dirty="0" err="1">
                  <a:solidFill>
                    <a:srgbClr val="173C34"/>
                  </a:solidFill>
                  <a:latin typeface="Segoe UI Semibold"/>
                </a:rPr>
                <a:t>стратегия</a:t>
              </a:r>
              <a:endParaRPr lang="bg-BG" dirty="0">
                <a:solidFill>
                  <a:srgbClr val="173C34"/>
                </a:solidFill>
                <a:latin typeface="Segoe UI Semibold" panose="020B0702040204020203" pitchFamily="34" charset="0"/>
              </a:endParaRPr>
            </a:p>
          </p:txBody>
        </p:sp>
        <p:sp>
          <p:nvSpPr>
            <p:cNvPr id="20" name="Vector_300">
              <a:extLst>
                <a:ext uri="{FF2B5EF4-FFF2-40B4-BE49-F238E27FC236}">
                  <a16:creationId xmlns:a16="http://schemas.microsoft.com/office/drawing/2014/main" id="{3575C2DF-29EA-1881-90C1-6600FDC42BA9}"/>
                </a:ext>
              </a:extLst>
            </p:cNvPr>
            <p:cNvSpPr/>
            <p:nvPr/>
          </p:nvSpPr>
          <p:spPr>
            <a:xfrm>
              <a:off x="321393" y="4221352"/>
              <a:ext cx="5969000" cy="7874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21" name="Text_301">
              <a:extLst>
                <a:ext uri="{FF2B5EF4-FFF2-40B4-BE49-F238E27FC236}">
                  <a16:creationId xmlns:a16="http://schemas.microsoft.com/office/drawing/2014/main" id="{8E2CD05A-E0B8-FC48-5962-ADED3DB13EF7}"/>
                </a:ext>
              </a:extLst>
            </p:cNvPr>
            <p:cNvSpPr txBox="1"/>
            <p:nvPr/>
          </p:nvSpPr>
          <p:spPr>
            <a:xfrm>
              <a:off x="684613" y="4500945"/>
              <a:ext cx="1233259" cy="3683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>
                <a:lnSpc>
                  <a:spcPct val="107000"/>
                </a:lnSpc>
              </a:pPr>
              <a:r>
                <a:rPr sz="1400" dirty="0" err="1">
                  <a:solidFill>
                    <a:srgbClr val="223E35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OptiMesh</a:t>
              </a:r>
              <a:endParaRPr lang="bg-BG" sz="1400" dirty="0">
                <a:solidFill>
                  <a:srgbClr val="223E35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22" name="Text_302">
              <a:extLst>
                <a:ext uri="{FF2B5EF4-FFF2-40B4-BE49-F238E27FC236}">
                  <a16:creationId xmlns:a16="http://schemas.microsoft.com/office/drawing/2014/main" id="{BEF1B362-0D96-4880-1450-F81F3761D119}"/>
                </a:ext>
              </a:extLst>
            </p:cNvPr>
            <p:cNvSpPr txBox="1"/>
            <p:nvPr/>
          </p:nvSpPr>
          <p:spPr>
            <a:xfrm>
              <a:off x="2451382" y="4474272"/>
              <a:ext cx="1709018" cy="4191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>
                <a:lnSpc>
                  <a:spcPct val="107000"/>
                </a:lnSpc>
              </a:pPr>
              <a:r>
                <a:rPr sz="1400" dirty="0" err="1">
                  <a:solidFill>
                    <a:srgbClr val="223E35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Демо</a:t>
              </a:r>
              <a:r>
                <a:rPr sz="1400" dirty="0">
                  <a:solidFill>
                    <a:srgbClr val="223E35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 </a:t>
              </a:r>
              <a:r>
                <a:rPr sz="1400" dirty="0" err="1">
                  <a:solidFill>
                    <a:srgbClr val="223E35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стратегия</a:t>
              </a:r>
              <a:endParaRPr lang="bg-BG" sz="1600" dirty="0">
                <a:solidFill>
                  <a:srgbClr val="223E35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23" name="Text_303">
              <a:extLst>
                <a:ext uri="{FF2B5EF4-FFF2-40B4-BE49-F238E27FC236}">
                  <a16:creationId xmlns:a16="http://schemas.microsoft.com/office/drawing/2014/main" id="{9782E1BE-3D18-69C0-D4BC-92303DCCE8C4}"/>
                </a:ext>
              </a:extLst>
            </p:cNvPr>
            <p:cNvSpPr txBox="1"/>
            <p:nvPr/>
          </p:nvSpPr>
          <p:spPr>
            <a:xfrm>
              <a:off x="4541685" y="4404741"/>
              <a:ext cx="1554315" cy="4699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>
                <a:lnSpc>
                  <a:spcPct val="107000"/>
                </a:lnSpc>
              </a:pPr>
              <a:r>
                <a:rPr sz="1400" dirty="0" err="1">
                  <a:solidFill>
                    <a:srgbClr val="173C34"/>
                  </a:solidFill>
                  <a:latin typeface="Segoe UI Semibold"/>
                </a:rPr>
                <a:t>Планира</a:t>
              </a:r>
              <a:r>
                <a:rPr sz="1400" dirty="0">
                  <a:solidFill>
                    <a:srgbClr val="173C34"/>
                  </a:solidFill>
                  <a:latin typeface="Segoe UI Semibold"/>
                </a:rPr>
                <a:t> и </a:t>
              </a:r>
              <a:r>
                <a:rPr sz="1400" dirty="0" err="1">
                  <a:solidFill>
                    <a:srgbClr val="173C34"/>
                  </a:solidFill>
                  <a:latin typeface="Segoe UI Semibold"/>
                </a:rPr>
                <a:t>реагира</a:t>
              </a:r>
              <a:endParaRPr lang="bg-BG" dirty="0">
                <a:solidFill>
                  <a:srgbClr val="173C34"/>
                </a:solidFill>
                <a:latin typeface="Segoe UI Semibold" panose="020B0702040204020203" pitchFamily="34" charset="0"/>
              </a:endParaRPr>
            </a:p>
          </p:txBody>
        </p:sp>
      </p:grpSp>
      <p:sp>
        <p:nvSpPr>
          <p:cNvPr id="24" name="Text_304">
            <a:extLst>
              <a:ext uri="{FF2B5EF4-FFF2-40B4-BE49-F238E27FC236}">
                <a16:creationId xmlns:a16="http://schemas.microsoft.com/office/drawing/2014/main" id="{72518AC6-D09A-7EBD-B1C3-7C3573DA8D58}"/>
              </a:ext>
            </a:extLst>
          </p:cNvPr>
          <p:cNvSpPr txBox="1"/>
          <p:nvPr/>
        </p:nvSpPr>
        <p:spPr>
          <a:xfrm>
            <a:off x="684613" y="5866893"/>
            <a:ext cx="4496987" cy="29260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7000"/>
              </a:lnSpc>
            </a:pPr>
            <a:r>
              <a:rPr sz="1210" b="1" dirty="0">
                <a:solidFill>
                  <a:srgbClr val="4B7355"/>
                </a:solidFill>
                <a:latin typeface="Segoe UI Semibold"/>
              </a:rPr>
              <a:t>СРАВНЯВАМЕ: </a:t>
            </a:r>
            <a:r>
              <a:rPr sz="1210" b="1" dirty="0" err="1">
                <a:solidFill>
                  <a:srgbClr val="4B7355"/>
                </a:solidFill>
                <a:latin typeface="Segoe UI Semibold"/>
              </a:rPr>
              <a:t>разход</a:t>
            </a:r>
            <a:r>
              <a:rPr sz="1210" b="1" dirty="0">
                <a:solidFill>
                  <a:srgbClr val="4B7355"/>
                </a:solidFill>
                <a:latin typeface="Segoe UI Semibold"/>
              </a:rPr>
              <a:t> • </a:t>
            </a:r>
            <a:r>
              <a:rPr sz="1210" b="1" dirty="0" err="1">
                <a:solidFill>
                  <a:srgbClr val="4B7355"/>
                </a:solidFill>
                <a:latin typeface="Segoe UI Semibold"/>
              </a:rPr>
              <a:t>пик</a:t>
            </a:r>
            <a:r>
              <a:rPr sz="1210" b="1" dirty="0">
                <a:solidFill>
                  <a:srgbClr val="4B7355"/>
                </a:solidFill>
                <a:latin typeface="Segoe UI Semibold"/>
              </a:rPr>
              <a:t> • EV • </a:t>
            </a:r>
            <a:r>
              <a:rPr sz="1210" b="1" dirty="0" err="1">
                <a:solidFill>
                  <a:srgbClr val="4B7355"/>
                </a:solidFill>
                <a:latin typeface="Segoe UI Semibold"/>
              </a:rPr>
              <a:t>комфорт</a:t>
            </a:r>
            <a:r>
              <a:rPr sz="1210" b="1" dirty="0">
                <a:solidFill>
                  <a:srgbClr val="4B7355"/>
                </a:solidFill>
                <a:latin typeface="Segoe UI Semibold"/>
              </a:rPr>
              <a:t> • </a:t>
            </a:r>
            <a:r>
              <a:rPr sz="1210" b="1" dirty="0" err="1">
                <a:solidFill>
                  <a:srgbClr val="4B7355"/>
                </a:solidFill>
                <a:latin typeface="Segoe UI Semibold"/>
              </a:rPr>
              <a:t>задачи</a:t>
            </a:r>
            <a:r>
              <a:rPr sz="1210" b="1" dirty="0">
                <a:solidFill>
                  <a:srgbClr val="4B7355"/>
                </a:solidFill>
                <a:latin typeface="Segoe UI Semibold"/>
              </a:rPr>
              <a:t> • </a:t>
            </a:r>
            <a:r>
              <a:rPr sz="1210" b="1" dirty="0" err="1">
                <a:solidFill>
                  <a:srgbClr val="4B7355"/>
                </a:solidFill>
                <a:latin typeface="Segoe UI Semibold"/>
              </a:rPr>
              <a:t>солар</a:t>
            </a:r>
            <a:endParaRPr sz="1210" b="1" dirty="0">
              <a:solidFill>
                <a:srgbClr val="4B7355"/>
              </a:solidFill>
              <a:latin typeface="Segoe UI Semibold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4B2AFB-69D3-B197-7A6B-F2DA94C46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4876" y="1808481"/>
            <a:ext cx="6259452" cy="3520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244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310">
            <a:extLst>
              <a:ext uri="{FF2B5EF4-FFF2-40B4-BE49-F238E27FC236}">
                <a16:creationId xmlns:a16="http://schemas.microsoft.com/office/drawing/2014/main" id="{5888E9E6-202D-F819-0780-6892CDFC027C}"/>
              </a:ext>
            </a:extLst>
          </p:cNvPr>
          <p:cNvSpPr txBox="1"/>
          <p:nvPr/>
        </p:nvSpPr>
        <p:spPr>
          <a:xfrm>
            <a:off x="609600" y="368300"/>
            <a:ext cx="10541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7000"/>
              </a:lnSpc>
            </a:pPr>
            <a:r>
              <a:rPr lang="bg-BG" sz="1100" b="1" dirty="0">
                <a:solidFill>
                  <a:srgbClr val="BACD91"/>
                </a:solidFill>
                <a:latin typeface="Segoe UI Semibold" panose="020B0702040204020203" pitchFamily="34" charset="0"/>
              </a:rPr>
              <a:t>ОТ ПРОТОТИП </a:t>
            </a:r>
            <a:r>
              <a:rPr lang="bg-BG" sz="1100" b="1">
                <a:solidFill>
                  <a:srgbClr val="BACD91"/>
                </a:solidFill>
                <a:latin typeface="Segoe UI Semibold" panose="020B0702040204020203" pitchFamily="34" charset="0"/>
              </a:rPr>
              <a:t>КЪМ ЕЖЕДНЕВИЕТО</a:t>
            </a:r>
            <a:endParaRPr lang="bg-BG" sz="1100" b="1" dirty="0">
              <a:solidFill>
                <a:srgbClr val="BACD91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" name="Text_311">
            <a:extLst>
              <a:ext uri="{FF2B5EF4-FFF2-40B4-BE49-F238E27FC236}">
                <a16:creationId xmlns:a16="http://schemas.microsoft.com/office/drawing/2014/main" id="{217B47A7-D56A-720B-E352-C6BCF076D8B5}"/>
              </a:ext>
            </a:extLst>
          </p:cNvPr>
          <p:cNvSpPr txBox="1"/>
          <p:nvPr/>
        </p:nvSpPr>
        <p:spPr>
          <a:xfrm>
            <a:off x="609600" y="825499"/>
            <a:ext cx="110236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7000"/>
              </a:lnSpc>
            </a:pPr>
            <a:endParaRPr lang="bg-BG" sz="3200" b="1" dirty="0">
              <a:solidFill>
                <a:srgbClr val="FFFFFF"/>
              </a:solidFill>
              <a:latin typeface="Segoe UI Semibold" panose="020B0702040204020203" pitchFamily="34" charset="0"/>
            </a:endParaRPr>
          </a:p>
        </p:txBody>
      </p:sp>
      <p:cxnSp>
        <p:nvCxnSpPr>
          <p:cNvPr id="4" name="Line_312">
            <a:extLst>
              <a:ext uri="{FF2B5EF4-FFF2-40B4-BE49-F238E27FC236}">
                <a16:creationId xmlns:a16="http://schemas.microsoft.com/office/drawing/2014/main" id="{158B83DA-61BC-C79C-079E-46D1DA457DFB}"/>
              </a:ext>
            </a:extLst>
          </p:cNvPr>
          <p:cNvCxnSpPr/>
          <p:nvPr/>
        </p:nvCxnSpPr>
        <p:spPr>
          <a:xfrm>
            <a:off x="609600" y="6299200"/>
            <a:ext cx="10972800" cy="0"/>
          </a:xfrm>
          <a:prstGeom prst="line">
            <a:avLst/>
          </a:prstGeom>
          <a:ln w="10160">
            <a:solidFill>
              <a:srgbClr val="3458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_313">
            <a:extLst>
              <a:ext uri="{FF2B5EF4-FFF2-40B4-BE49-F238E27FC236}">
                <a16:creationId xmlns:a16="http://schemas.microsoft.com/office/drawing/2014/main" id="{67370A4C-0F57-565E-995A-B7EEAE9AEE1D}"/>
              </a:ext>
            </a:extLst>
          </p:cNvPr>
          <p:cNvSpPr txBox="1"/>
          <p:nvPr/>
        </p:nvSpPr>
        <p:spPr>
          <a:xfrm>
            <a:off x="609600" y="6451600"/>
            <a:ext cx="54610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7000"/>
              </a:lnSpc>
            </a:pPr>
            <a:r>
              <a:rPr lang="bg-BG" sz="1000">
                <a:solidFill>
                  <a:srgbClr val="BACD91"/>
                </a:solidFill>
                <a:latin typeface="Segoe UI" panose="020B0502040204020203" pitchFamily="34" charset="0"/>
              </a:rPr>
              <a:t>OPTIMESH  /  КРАСНА ПОЛЯНА</a:t>
            </a:r>
            <a:endParaRPr lang="bg-BG" sz="1000" dirty="0">
              <a:solidFill>
                <a:srgbClr val="BACD91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_315">
            <a:extLst>
              <a:ext uri="{FF2B5EF4-FFF2-40B4-BE49-F238E27FC236}">
                <a16:creationId xmlns:a16="http://schemas.microsoft.com/office/drawing/2014/main" id="{3DF8699C-A9E0-B23A-8091-9B11B0C8E1BA}"/>
              </a:ext>
            </a:extLst>
          </p:cNvPr>
          <p:cNvSpPr txBox="1"/>
          <p:nvPr/>
        </p:nvSpPr>
        <p:spPr>
          <a:xfrm>
            <a:off x="603961" y="1200837"/>
            <a:ext cx="6569177" cy="1320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7000"/>
              </a:lnSpc>
            </a:pPr>
            <a:r>
              <a:rPr lang="bg-BG" sz="48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По-умно потребление.</a:t>
            </a:r>
          </a:p>
          <a:p>
            <a:pPr>
              <a:lnSpc>
                <a:spcPct val="107000"/>
              </a:lnSpc>
            </a:pPr>
            <a:r>
              <a:rPr lang="bg-BG" sz="48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По-зелен град.</a:t>
            </a:r>
          </a:p>
        </p:txBody>
      </p:sp>
      <p:sp>
        <p:nvSpPr>
          <p:cNvPr id="8" name="Vector_316">
            <a:extLst>
              <a:ext uri="{FF2B5EF4-FFF2-40B4-BE49-F238E27FC236}">
                <a16:creationId xmlns:a16="http://schemas.microsoft.com/office/drawing/2014/main" id="{451DED4B-2C24-894E-6EE0-8A296BB80C59}"/>
              </a:ext>
            </a:extLst>
          </p:cNvPr>
          <p:cNvSpPr/>
          <p:nvPr/>
        </p:nvSpPr>
        <p:spPr>
          <a:xfrm>
            <a:off x="310515" y="3581244"/>
            <a:ext cx="101600" cy="101600"/>
          </a:xfrm>
          <a:prstGeom prst="ellipse">
            <a:avLst/>
          </a:prstGeom>
          <a:solidFill>
            <a:srgbClr val="F2C65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_317">
            <a:extLst>
              <a:ext uri="{FF2B5EF4-FFF2-40B4-BE49-F238E27FC236}">
                <a16:creationId xmlns:a16="http://schemas.microsoft.com/office/drawing/2014/main" id="{BF9A5D23-4B4E-1812-625E-B37B431B1F1E}"/>
              </a:ext>
            </a:extLst>
          </p:cNvPr>
          <p:cNvSpPr txBox="1"/>
          <p:nvPr/>
        </p:nvSpPr>
        <p:spPr>
          <a:xfrm>
            <a:off x="564515" y="3530444"/>
            <a:ext cx="651510" cy="241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7000"/>
              </a:lnSpc>
            </a:pPr>
            <a:r>
              <a:rPr lang="bg-BG" sz="1400" b="1" dirty="0">
                <a:solidFill>
                  <a:srgbClr val="BACD91"/>
                </a:solidFill>
                <a:latin typeface="Segoe UI Semibold" panose="020B0702040204020203" pitchFamily="34" charset="0"/>
              </a:rPr>
              <a:t>ДНЕС</a:t>
            </a:r>
          </a:p>
        </p:txBody>
      </p:sp>
      <p:sp>
        <p:nvSpPr>
          <p:cNvPr id="10" name="Text_318">
            <a:extLst>
              <a:ext uri="{FF2B5EF4-FFF2-40B4-BE49-F238E27FC236}">
                <a16:creationId xmlns:a16="http://schemas.microsoft.com/office/drawing/2014/main" id="{BE0A9D51-3A28-45BA-CA20-9CE76A89D048}"/>
              </a:ext>
            </a:extLst>
          </p:cNvPr>
          <p:cNvSpPr txBox="1"/>
          <p:nvPr/>
        </p:nvSpPr>
        <p:spPr>
          <a:xfrm>
            <a:off x="564515" y="3797143"/>
            <a:ext cx="4070350" cy="393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7000"/>
              </a:lnSpc>
            </a:pPr>
            <a:r>
              <a:rPr lang="bg-BG" sz="1750" dirty="0">
                <a:solidFill>
                  <a:srgbClr val="FFFFFF"/>
                </a:solidFill>
                <a:latin typeface="Segoe UI" panose="020B0502040204020203" pitchFamily="34" charset="0"/>
              </a:rPr>
              <a:t>Реални измервания от ESP32 в базата.</a:t>
            </a:r>
          </a:p>
        </p:txBody>
      </p:sp>
      <p:sp>
        <p:nvSpPr>
          <p:cNvPr id="11" name="Vector_319">
            <a:extLst>
              <a:ext uri="{FF2B5EF4-FFF2-40B4-BE49-F238E27FC236}">
                <a16:creationId xmlns:a16="http://schemas.microsoft.com/office/drawing/2014/main" id="{C6F05819-E382-2DD6-2594-F61AEDE65908}"/>
              </a:ext>
            </a:extLst>
          </p:cNvPr>
          <p:cNvSpPr/>
          <p:nvPr/>
        </p:nvSpPr>
        <p:spPr>
          <a:xfrm>
            <a:off x="3660775" y="4312858"/>
            <a:ext cx="101600" cy="101600"/>
          </a:xfrm>
          <a:prstGeom prst="ellipse">
            <a:avLst/>
          </a:prstGeom>
          <a:solidFill>
            <a:srgbClr val="F2C65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_320">
            <a:extLst>
              <a:ext uri="{FF2B5EF4-FFF2-40B4-BE49-F238E27FC236}">
                <a16:creationId xmlns:a16="http://schemas.microsoft.com/office/drawing/2014/main" id="{7E303E9A-C8B6-E9E9-4969-8A16FF87FDCD}"/>
              </a:ext>
            </a:extLst>
          </p:cNvPr>
          <p:cNvSpPr txBox="1"/>
          <p:nvPr/>
        </p:nvSpPr>
        <p:spPr>
          <a:xfrm>
            <a:off x="3914775" y="4262058"/>
            <a:ext cx="1200150" cy="241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7000"/>
              </a:lnSpc>
            </a:pPr>
            <a:r>
              <a:rPr lang="bg-BG" sz="1400" b="1" dirty="0">
                <a:solidFill>
                  <a:srgbClr val="BACD91"/>
                </a:solidFill>
                <a:latin typeface="Segoe UI Semibold" panose="020B0702040204020203" pitchFamily="34" charset="0"/>
              </a:rPr>
              <a:t>ПРОТОТИП</a:t>
            </a:r>
          </a:p>
        </p:txBody>
      </p:sp>
      <p:sp>
        <p:nvSpPr>
          <p:cNvPr id="13" name="Text_321">
            <a:extLst>
              <a:ext uri="{FF2B5EF4-FFF2-40B4-BE49-F238E27FC236}">
                <a16:creationId xmlns:a16="http://schemas.microsoft.com/office/drawing/2014/main" id="{2914B98B-95BA-C5DE-BBD6-98FD1994F9F1}"/>
              </a:ext>
            </a:extLst>
          </p:cNvPr>
          <p:cNvSpPr txBox="1"/>
          <p:nvPr/>
        </p:nvSpPr>
        <p:spPr>
          <a:xfrm>
            <a:off x="3914775" y="4528757"/>
            <a:ext cx="3968750" cy="393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7000"/>
              </a:lnSpc>
            </a:pPr>
            <a:r>
              <a:rPr lang="bg-BG" sz="1750">
                <a:solidFill>
                  <a:srgbClr val="FFFFFF"/>
                </a:solidFill>
                <a:latin typeface="Segoe UI" panose="020B0502040204020203" pitchFamily="34" charset="0"/>
              </a:rPr>
              <a:t>Live dashboard и играта „Диспечер“.</a:t>
            </a:r>
            <a:endParaRPr lang="bg-BG" sz="1750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Vector_322">
            <a:extLst>
              <a:ext uri="{FF2B5EF4-FFF2-40B4-BE49-F238E27FC236}">
                <a16:creationId xmlns:a16="http://schemas.microsoft.com/office/drawing/2014/main" id="{57123E59-A08A-3910-05ED-E79450253E01}"/>
              </a:ext>
            </a:extLst>
          </p:cNvPr>
          <p:cNvSpPr/>
          <p:nvPr/>
        </p:nvSpPr>
        <p:spPr>
          <a:xfrm>
            <a:off x="6413881" y="5094074"/>
            <a:ext cx="101600" cy="101600"/>
          </a:xfrm>
          <a:prstGeom prst="ellipse">
            <a:avLst/>
          </a:prstGeom>
          <a:solidFill>
            <a:srgbClr val="F2C65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_323">
            <a:extLst>
              <a:ext uri="{FF2B5EF4-FFF2-40B4-BE49-F238E27FC236}">
                <a16:creationId xmlns:a16="http://schemas.microsoft.com/office/drawing/2014/main" id="{55888F8A-E226-3B91-46F3-9B6FCF872FAB}"/>
              </a:ext>
            </a:extLst>
          </p:cNvPr>
          <p:cNvSpPr txBox="1"/>
          <p:nvPr/>
        </p:nvSpPr>
        <p:spPr>
          <a:xfrm>
            <a:off x="6667881" y="5043274"/>
            <a:ext cx="927100" cy="241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7000"/>
              </a:lnSpc>
            </a:pPr>
            <a:r>
              <a:rPr lang="bg-BG" sz="1400" b="1" dirty="0">
                <a:solidFill>
                  <a:srgbClr val="BACD91"/>
                </a:solidFill>
                <a:latin typeface="Segoe UI Semibold" panose="020B0702040204020203" pitchFamily="34" charset="0"/>
              </a:rPr>
              <a:t>СЛЕДВА</a:t>
            </a:r>
          </a:p>
        </p:txBody>
      </p:sp>
      <p:sp>
        <p:nvSpPr>
          <p:cNvPr id="16" name="Text_324">
            <a:extLst>
              <a:ext uri="{FF2B5EF4-FFF2-40B4-BE49-F238E27FC236}">
                <a16:creationId xmlns:a16="http://schemas.microsoft.com/office/drawing/2014/main" id="{DB7F31A4-265A-7615-BD83-C9467B6D1866}"/>
              </a:ext>
            </a:extLst>
          </p:cNvPr>
          <p:cNvSpPr txBox="1"/>
          <p:nvPr/>
        </p:nvSpPr>
        <p:spPr>
          <a:xfrm>
            <a:off x="6667881" y="5309973"/>
            <a:ext cx="4984750" cy="393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7000"/>
              </a:lnSpc>
            </a:pPr>
            <a:r>
              <a:rPr lang="bg-BG" sz="1750">
                <a:solidFill>
                  <a:srgbClr val="FFFFFF"/>
                </a:solidFill>
                <a:latin typeface="Segoe UI" panose="020B0502040204020203" pitchFamily="34" charset="0"/>
              </a:rPr>
              <a:t>Алгоритъмът да управлява реални устройства.</a:t>
            </a:r>
            <a:endParaRPr lang="bg-BG" sz="1750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Text_325">
            <a:extLst>
              <a:ext uri="{FF2B5EF4-FFF2-40B4-BE49-F238E27FC236}">
                <a16:creationId xmlns:a16="http://schemas.microsoft.com/office/drawing/2014/main" id="{A98F7DCA-7C81-80A4-F28C-7F515752C75E}"/>
              </a:ext>
            </a:extLst>
          </p:cNvPr>
          <p:cNvSpPr txBox="1"/>
          <p:nvPr/>
        </p:nvSpPr>
        <p:spPr>
          <a:xfrm>
            <a:off x="603961" y="5325079"/>
            <a:ext cx="4401185" cy="93361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7000"/>
              </a:lnSpc>
            </a:pPr>
            <a:r>
              <a:rPr lang="bg-BG" sz="5400" b="1" i="1" dirty="0">
                <a:solidFill>
                  <a:srgbClr val="F2C65D"/>
                </a:solidFill>
                <a:latin typeface="Segoe UI Semibold" panose="020B0702040204020203" pitchFamily="34" charset="0"/>
              </a:rPr>
              <a:t>Благодарим!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8FF8846C-C4B0-22D2-B6EB-C50EE7E73682}"/>
              </a:ext>
            </a:extLst>
          </p:cNvPr>
          <p:cNvGrpSpPr/>
          <p:nvPr/>
        </p:nvGrpSpPr>
        <p:grpSpPr>
          <a:xfrm>
            <a:off x="8584184" y="2664130"/>
            <a:ext cx="2859786" cy="1172718"/>
            <a:chOff x="8342884" y="4551680"/>
            <a:chExt cx="2859786" cy="1172718"/>
          </a:xfrm>
        </p:grpSpPr>
        <p:sp>
          <p:nvSpPr>
            <p:cNvPr id="32" name="Vector_340">
              <a:extLst>
                <a:ext uri="{FF2B5EF4-FFF2-40B4-BE49-F238E27FC236}">
                  <a16:creationId xmlns:a16="http://schemas.microsoft.com/office/drawing/2014/main" id="{CDE9BBCC-9750-1339-A181-4946EBDC23F0}"/>
                </a:ext>
              </a:extLst>
            </p:cNvPr>
            <p:cNvSpPr/>
            <p:nvPr/>
          </p:nvSpPr>
          <p:spPr>
            <a:xfrm>
              <a:off x="8699500" y="4922012"/>
              <a:ext cx="651510" cy="795528"/>
            </a:xfrm>
            <a:prstGeom prst="rect">
              <a:avLst/>
            </a:prstGeom>
            <a:solidFill>
              <a:srgbClr val="AFC18A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Vector_341">
              <a:extLst>
                <a:ext uri="{FF2B5EF4-FFF2-40B4-BE49-F238E27FC236}">
                  <a16:creationId xmlns:a16="http://schemas.microsoft.com/office/drawing/2014/main" id="{3C660B53-93C2-5018-7E92-AE8C3101B021}"/>
                </a:ext>
              </a:extLst>
            </p:cNvPr>
            <p:cNvSpPr/>
            <p:nvPr/>
          </p:nvSpPr>
          <p:spPr>
            <a:xfrm>
              <a:off x="9488170" y="4551680"/>
              <a:ext cx="624078" cy="1165860"/>
            </a:xfrm>
            <a:prstGeom prst="rect">
              <a:avLst/>
            </a:prstGeom>
            <a:solidFill>
              <a:srgbClr val="4C6E58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Vector_342">
              <a:extLst>
                <a:ext uri="{FF2B5EF4-FFF2-40B4-BE49-F238E27FC236}">
                  <a16:creationId xmlns:a16="http://schemas.microsoft.com/office/drawing/2014/main" id="{979081BE-3DBD-63C0-DB39-9A93A8A35FE4}"/>
                </a:ext>
              </a:extLst>
            </p:cNvPr>
            <p:cNvSpPr/>
            <p:nvPr/>
          </p:nvSpPr>
          <p:spPr>
            <a:xfrm>
              <a:off x="10228834" y="4812284"/>
              <a:ext cx="644652" cy="905256"/>
            </a:xfrm>
            <a:prstGeom prst="rect">
              <a:avLst/>
            </a:prstGeom>
            <a:solidFill>
              <a:srgbClr val="769165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Vector_343">
              <a:extLst>
                <a:ext uri="{FF2B5EF4-FFF2-40B4-BE49-F238E27FC236}">
                  <a16:creationId xmlns:a16="http://schemas.microsoft.com/office/drawing/2014/main" id="{82EB519A-09E0-8021-6162-8422E4D1CCBA}"/>
                </a:ext>
              </a:extLst>
            </p:cNvPr>
            <p:cNvSpPr/>
            <p:nvPr/>
          </p:nvSpPr>
          <p:spPr>
            <a:xfrm>
              <a:off x="8843518" y="5175758"/>
              <a:ext cx="116586" cy="198882"/>
            </a:xfrm>
            <a:prstGeom prst="rect">
              <a:avLst/>
            </a:prstGeom>
            <a:solidFill>
              <a:srgbClr val="173C3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Vector_344">
              <a:extLst>
                <a:ext uri="{FF2B5EF4-FFF2-40B4-BE49-F238E27FC236}">
                  <a16:creationId xmlns:a16="http://schemas.microsoft.com/office/drawing/2014/main" id="{2B8D9C46-66B0-A433-C921-710DBEA52527}"/>
                </a:ext>
              </a:extLst>
            </p:cNvPr>
            <p:cNvSpPr/>
            <p:nvPr/>
          </p:nvSpPr>
          <p:spPr>
            <a:xfrm>
              <a:off x="9083548" y="5175758"/>
              <a:ext cx="116586" cy="198882"/>
            </a:xfrm>
            <a:prstGeom prst="rect">
              <a:avLst/>
            </a:prstGeom>
            <a:solidFill>
              <a:srgbClr val="173C3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Vector_345">
              <a:extLst>
                <a:ext uri="{FF2B5EF4-FFF2-40B4-BE49-F238E27FC236}">
                  <a16:creationId xmlns:a16="http://schemas.microsoft.com/office/drawing/2014/main" id="{233FB441-A8DF-2D96-3A86-ED4E5548FD41}"/>
                </a:ext>
              </a:extLst>
            </p:cNvPr>
            <p:cNvSpPr/>
            <p:nvPr/>
          </p:nvSpPr>
          <p:spPr>
            <a:xfrm>
              <a:off x="8953246" y="5498084"/>
              <a:ext cx="157734" cy="219456"/>
            </a:xfrm>
            <a:prstGeom prst="rect">
              <a:avLst/>
            </a:prstGeom>
            <a:solidFill>
              <a:srgbClr val="173C3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Vector_346">
              <a:extLst>
                <a:ext uri="{FF2B5EF4-FFF2-40B4-BE49-F238E27FC236}">
                  <a16:creationId xmlns:a16="http://schemas.microsoft.com/office/drawing/2014/main" id="{1C9F7DD2-3C84-A250-1544-51A0DE66AC67}"/>
                </a:ext>
              </a:extLst>
            </p:cNvPr>
            <p:cNvSpPr/>
            <p:nvPr/>
          </p:nvSpPr>
          <p:spPr>
            <a:xfrm>
              <a:off x="9611614" y="4723130"/>
              <a:ext cx="109728" cy="116586"/>
            </a:xfrm>
            <a:prstGeom prst="rect">
              <a:avLst/>
            </a:prstGeom>
            <a:solidFill>
              <a:srgbClr val="173C3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Vector_347">
              <a:extLst>
                <a:ext uri="{FF2B5EF4-FFF2-40B4-BE49-F238E27FC236}">
                  <a16:creationId xmlns:a16="http://schemas.microsoft.com/office/drawing/2014/main" id="{A015789C-34AA-A133-BE0F-C08CF43EB60B}"/>
                </a:ext>
              </a:extLst>
            </p:cNvPr>
            <p:cNvSpPr/>
            <p:nvPr/>
          </p:nvSpPr>
          <p:spPr>
            <a:xfrm>
              <a:off x="9851644" y="4723130"/>
              <a:ext cx="109728" cy="116586"/>
            </a:xfrm>
            <a:prstGeom prst="rect">
              <a:avLst/>
            </a:prstGeom>
            <a:solidFill>
              <a:srgbClr val="173C3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Vector_348">
              <a:extLst>
                <a:ext uri="{FF2B5EF4-FFF2-40B4-BE49-F238E27FC236}">
                  <a16:creationId xmlns:a16="http://schemas.microsoft.com/office/drawing/2014/main" id="{27481380-8B0F-E65E-FE9D-0E9BAC601200}"/>
                </a:ext>
              </a:extLst>
            </p:cNvPr>
            <p:cNvSpPr/>
            <p:nvPr/>
          </p:nvSpPr>
          <p:spPr>
            <a:xfrm>
              <a:off x="9611614" y="4949444"/>
              <a:ext cx="109728" cy="116586"/>
            </a:xfrm>
            <a:prstGeom prst="rect">
              <a:avLst/>
            </a:prstGeom>
            <a:solidFill>
              <a:srgbClr val="173C3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Vector_349">
              <a:extLst>
                <a:ext uri="{FF2B5EF4-FFF2-40B4-BE49-F238E27FC236}">
                  <a16:creationId xmlns:a16="http://schemas.microsoft.com/office/drawing/2014/main" id="{1E0F4933-E6C4-43D2-BB01-74B8C8E82DC8}"/>
                </a:ext>
              </a:extLst>
            </p:cNvPr>
            <p:cNvSpPr/>
            <p:nvPr/>
          </p:nvSpPr>
          <p:spPr>
            <a:xfrm>
              <a:off x="9851644" y="4949444"/>
              <a:ext cx="109728" cy="116586"/>
            </a:xfrm>
            <a:prstGeom prst="rect">
              <a:avLst/>
            </a:prstGeom>
            <a:solidFill>
              <a:srgbClr val="173C3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Vector_350">
              <a:extLst>
                <a:ext uri="{FF2B5EF4-FFF2-40B4-BE49-F238E27FC236}">
                  <a16:creationId xmlns:a16="http://schemas.microsoft.com/office/drawing/2014/main" id="{7ECF6757-C452-D332-2123-6632AE1F82E5}"/>
                </a:ext>
              </a:extLst>
            </p:cNvPr>
            <p:cNvSpPr/>
            <p:nvPr/>
          </p:nvSpPr>
          <p:spPr>
            <a:xfrm>
              <a:off x="9611614" y="5175758"/>
              <a:ext cx="109728" cy="116586"/>
            </a:xfrm>
            <a:prstGeom prst="rect">
              <a:avLst/>
            </a:prstGeom>
            <a:solidFill>
              <a:srgbClr val="173C3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Vector_351">
              <a:extLst>
                <a:ext uri="{FF2B5EF4-FFF2-40B4-BE49-F238E27FC236}">
                  <a16:creationId xmlns:a16="http://schemas.microsoft.com/office/drawing/2014/main" id="{1A636353-428A-8D5A-8F68-6FC9D0A299CE}"/>
                </a:ext>
              </a:extLst>
            </p:cNvPr>
            <p:cNvSpPr/>
            <p:nvPr/>
          </p:nvSpPr>
          <p:spPr>
            <a:xfrm>
              <a:off x="9851644" y="5175758"/>
              <a:ext cx="109728" cy="116586"/>
            </a:xfrm>
            <a:prstGeom prst="rect">
              <a:avLst/>
            </a:prstGeom>
            <a:solidFill>
              <a:srgbClr val="173C3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Vector_352">
              <a:extLst>
                <a:ext uri="{FF2B5EF4-FFF2-40B4-BE49-F238E27FC236}">
                  <a16:creationId xmlns:a16="http://schemas.microsoft.com/office/drawing/2014/main" id="{3CC15081-4D5C-954D-279D-605F53281CA5}"/>
                </a:ext>
              </a:extLst>
            </p:cNvPr>
            <p:cNvSpPr/>
            <p:nvPr/>
          </p:nvSpPr>
          <p:spPr>
            <a:xfrm>
              <a:off x="9611614" y="5402072"/>
              <a:ext cx="109728" cy="116586"/>
            </a:xfrm>
            <a:prstGeom prst="rect">
              <a:avLst/>
            </a:prstGeom>
            <a:solidFill>
              <a:srgbClr val="173C3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Vector_353">
              <a:extLst>
                <a:ext uri="{FF2B5EF4-FFF2-40B4-BE49-F238E27FC236}">
                  <a16:creationId xmlns:a16="http://schemas.microsoft.com/office/drawing/2014/main" id="{9379EF36-352F-9584-63E1-67BA94FF5B31}"/>
                </a:ext>
              </a:extLst>
            </p:cNvPr>
            <p:cNvSpPr/>
            <p:nvPr/>
          </p:nvSpPr>
          <p:spPr>
            <a:xfrm>
              <a:off x="9851644" y="5402072"/>
              <a:ext cx="109728" cy="116586"/>
            </a:xfrm>
            <a:prstGeom prst="rect">
              <a:avLst/>
            </a:prstGeom>
            <a:solidFill>
              <a:srgbClr val="173C3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Vector_354">
              <a:extLst>
                <a:ext uri="{FF2B5EF4-FFF2-40B4-BE49-F238E27FC236}">
                  <a16:creationId xmlns:a16="http://schemas.microsoft.com/office/drawing/2014/main" id="{12C2FD72-4823-58EC-63D7-FF6C416953CE}"/>
                </a:ext>
              </a:extLst>
            </p:cNvPr>
            <p:cNvSpPr/>
            <p:nvPr/>
          </p:nvSpPr>
          <p:spPr>
            <a:xfrm>
              <a:off x="10345420" y="4990592"/>
              <a:ext cx="109728" cy="116586"/>
            </a:xfrm>
            <a:prstGeom prst="rect">
              <a:avLst/>
            </a:prstGeom>
            <a:solidFill>
              <a:srgbClr val="173C3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Vector_355">
              <a:extLst>
                <a:ext uri="{FF2B5EF4-FFF2-40B4-BE49-F238E27FC236}">
                  <a16:creationId xmlns:a16="http://schemas.microsoft.com/office/drawing/2014/main" id="{248F9E16-E589-CA9B-9E9D-364153CFF720}"/>
                </a:ext>
              </a:extLst>
            </p:cNvPr>
            <p:cNvSpPr/>
            <p:nvPr/>
          </p:nvSpPr>
          <p:spPr>
            <a:xfrm>
              <a:off x="10585450" y="4990592"/>
              <a:ext cx="109728" cy="116586"/>
            </a:xfrm>
            <a:prstGeom prst="rect">
              <a:avLst/>
            </a:prstGeom>
            <a:solidFill>
              <a:srgbClr val="173C3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Vector_356">
              <a:extLst>
                <a:ext uri="{FF2B5EF4-FFF2-40B4-BE49-F238E27FC236}">
                  <a16:creationId xmlns:a16="http://schemas.microsoft.com/office/drawing/2014/main" id="{BB4713DF-2FB9-0D15-6F5D-78E81F992A12}"/>
                </a:ext>
              </a:extLst>
            </p:cNvPr>
            <p:cNvSpPr/>
            <p:nvPr/>
          </p:nvSpPr>
          <p:spPr>
            <a:xfrm>
              <a:off x="10345420" y="5216906"/>
              <a:ext cx="109728" cy="116586"/>
            </a:xfrm>
            <a:prstGeom prst="rect">
              <a:avLst/>
            </a:prstGeom>
            <a:solidFill>
              <a:srgbClr val="173C3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Vector_357">
              <a:extLst>
                <a:ext uri="{FF2B5EF4-FFF2-40B4-BE49-F238E27FC236}">
                  <a16:creationId xmlns:a16="http://schemas.microsoft.com/office/drawing/2014/main" id="{F4C5328C-744A-C22B-4B09-2F1A1BDD5A03}"/>
                </a:ext>
              </a:extLst>
            </p:cNvPr>
            <p:cNvSpPr/>
            <p:nvPr/>
          </p:nvSpPr>
          <p:spPr>
            <a:xfrm>
              <a:off x="10585450" y="5216906"/>
              <a:ext cx="109728" cy="116586"/>
            </a:xfrm>
            <a:prstGeom prst="rect">
              <a:avLst/>
            </a:prstGeom>
            <a:solidFill>
              <a:srgbClr val="173C3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Vector_358">
              <a:extLst>
                <a:ext uri="{FF2B5EF4-FFF2-40B4-BE49-F238E27FC236}">
                  <a16:creationId xmlns:a16="http://schemas.microsoft.com/office/drawing/2014/main" id="{36A23596-4AB5-6FAB-EBA2-EC5B0EA8F589}"/>
                </a:ext>
              </a:extLst>
            </p:cNvPr>
            <p:cNvSpPr/>
            <p:nvPr/>
          </p:nvSpPr>
          <p:spPr>
            <a:xfrm>
              <a:off x="10345420" y="5443220"/>
              <a:ext cx="109728" cy="116586"/>
            </a:xfrm>
            <a:prstGeom prst="rect">
              <a:avLst/>
            </a:prstGeom>
            <a:solidFill>
              <a:srgbClr val="173C3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Vector_359">
              <a:extLst>
                <a:ext uri="{FF2B5EF4-FFF2-40B4-BE49-F238E27FC236}">
                  <a16:creationId xmlns:a16="http://schemas.microsoft.com/office/drawing/2014/main" id="{5BC0B09E-A201-9B0B-E043-DCD6F803C986}"/>
                </a:ext>
              </a:extLst>
            </p:cNvPr>
            <p:cNvSpPr/>
            <p:nvPr/>
          </p:nvSpPr>
          <p:spPr>
            <a:xfrm>
              <a:off x="10585450" y="5443220"/>
              <a:ext cx="109728" cy="116586"/>
            </a:xfrm>
            <a:prstGeom prst="rect">
              <a:avLst/>
            </a:prstGeom>
            <a:solidFill>
              <a:srgbClr val="173C3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Vector_360">
              <a:extLst>
                <a:ext uri="{FF2B5EF4-FFF2-40B4-BE49-F238E27FC236}">
                  <a16:creationId xmlns:a16="http://schemas.microsoft.com/office/drawing/2014/main" id="{25D98397-9198-4FA0-E0DC-022D7B0869B8}"/>
                </a:ext>
              </a:extLst>
            </p:cNvPr>
            <p:cNvSpPr/>
            <p:nvPr/>
          </p:nvSpPr>
          <p:spPr>
            <a:xfrm>
              <a:off x="8809228" y="4812284"/>
              <a:ext cx="438912" cy="102870"/>
            </a:xfrm>
            <a:prstGeom prst="rect">
              <a:avLst/>
            </a:prstGeom>
            <a:solidFill>
              <a:srgbClr val="173C34"/>
            </a:solidFill>
            <a:ln w="12700">
              <a:solidFill>
                <a:srgbClr val="BACD9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" name="Line_361">
              <a:extLst>
                <a:ext uri="{FF2B5EF4-FFF2-40B4-BE49-F238E27FC236}">
                  <a16:creationId xmlns:a16="http://schemas.microsoft.com/office/drawing/2014/main" id="{6EAD16B0-5BF1-2E0F-9609-27F7EF1F723E}"/>
                </a:ext>
              </a:extLst>
            </p:cNvPr>
            <p:cNvCxnSpPr/>
            <p:nvPr/>
          </p:nvCxnSpPr>
          <p:spPr>
            <a:xfrm>
              <a:off x="8918956" y="4812284"/>
              <a:ext cx="0" cy="102870"/>
            </a:xfrm>
            <a:prstGeom prst="line">
              <a:avLst/>
            </a:prstGeom>
            <a:ln w="9525">
              <a:solidFill>
                <a:srgbClr val="BACD9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Line_362">
              <a:extLst>
                <a:ext uri="{FF2B5EF4-FFF2-40B4-BE49-F238E27FC236}">
                  <a16:creationId xmlns:a16="http://schemas.microsoft.com/office/drawing/2014/main" id="{AB39DFA8-8881-013D-F646-C4BB76A5C8BF}"/>
                </a:ext>
              </a:extLst>
            </p:cNvPr>
            <p:cNvCxnSpPr/>
            <p:nvPr/>
          </p:nvCxnSpPr>
          <p:spPr>
            <a:xfrm>
              <a:off x="9028684" y="4812284"/>
              <a:ext cx="0" cy="102870"/>
            </a:xfrm>
            <a:prstGeom prst="line">
              <a:avLst/>
            </a:prstGeom>
            <a:ln w="9525">
              <a:solidFill>
                <a:srgbClr val="BACD9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Line_363">
              <a:extLst>
                <a:ext uri="{FF2B5EF4-FFF2-40B4-BE49-F238E27FC236}">
                  <a16:creationId xmlns:a16="http://schemas.microsoft.com/office/drawing/2014/main" id="{88F5527D-E2C6-92A7-C8F2-C61C5F3C53C4}"/>
                </a:ext>
              </a:extLst>
            </p:cNvPr>
            <p:cNvCxnSpPr/>
            <p:nvPr/>
          </p:nvCxnSpPr>
          <p:spPr>
            <a:xfrm>
              <a:off x="9138412" y="4812284"/>
              <a:ext cx="0" cy="102870"/>
            </a:xfrm>
            <a:prstGeom prst="line">
              <a:avLst/>
            </a:prstGeom>
            <a:ln w="9525">
              <a:solidFill>
                <a:srgbClr val="BACD9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Line_364">
              <a:extLst>
                <a:ext uri="{FF2B5EF4-FFF2-40B4-BE49-F238E27FC236}">
                  <a16:creationId xmlns:a16="http://schemas.microsoft.com/office/drawing/2014/main" id="{00ADFE99-0058-2BA1-8043-0692E1BF4E90}"/>
                </a:ext>
              </a:extLst>
            </p:cNvPr>
            <p:cNvCxnSpPr/>
            <p:nvPr/>
          </p:nvCxnSpPr>
          <p:spPr>
            <a:xfrm>
              <a:off x="8809228" y="4860290"/>
              <a:ext cx="438912" cy="0"/>
            </a:xfrm>
            <a:prstGeom prst="line">
              <a:avLst/>
            </a:prstGeom>
            <a:ln w="9525">
              <a:solidFill>
                <a:srgbClr val="BACD9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Vector_365">
              <a:extLst>
                <a:ext uri="{FF2B5EF4-FFF2-40B4-BE49-F238E27FC236}">
                  <a16:creationId xmlns:a16="http://schemas.microsoft.com/office/drawing/2014/main" id="{01C39525-DB2E-9392-B6C4-94E551250792}"/>
                </a:ext>
              </a:extLst>
            </p:cNvPr>
            <p:cNvSpPr/>
            <p:nvPr/>
          </p:nvSpPr>
          <p:spPr>
            <a:xfrm>
              <a:off x="10311130" y="4709414"/>
              <a:ext cx="411481" cy="96012"/>
            </a:xfrm>
            <a:prstGeom prst="rect">
              <a:avLst/>
            </a:prstGeom>
            <a:solidFill>
              <a:srgbClr val="173C34"/>
            </a:solidFill>
            <a:ln w="12700">
              <a:solidFill>
                <a:srgbClr val="BACD9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8" name="Line_366">
              <a:extLst>
                <a:ext uri="{FF2B5EF4-FFF2-40B4-BE49-F238E27FC236}">
                  <a16:creationId xmlns:a16="http://schemas.microsoft.com/office/drawing/2014/main" id="{791A31C4-5F3C-FCD3-945A-BDF7A7822AD4}"/>
                </a:ext>
              </a:extLst>
            </p:cNvPr>
            <p:cNvCxnSpPr/>
            <p:nvPr/>
          </p:nvCxnSpPr>
          <p:spPr>
            <a:xfrm>
              <a:off x="10414000" y="4709414"/>
              <a:ext cx="0" cy="96012"/>
            </a:xfrm>
            <a:prstGeom prst="line">
              <a:avLst/>
            </a:prstGeom>
            <a:ln w="9525">
              <a:solidFill>
                <a:srgbClr val="BACD9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Line_367">
              <a:extLst>
                <a:ext uri="{FF2B5EF4-FFF2-40B4-BE49-F238E27FC236}">
                  <a16:creationId xmlns:a16="http://schemas.microsoft.com/office/drawing/2014/main" id="{AF064333-36C0-99D9-51F9-2BCB21F73FA3}"/>
                </a:ext>
              </a:extLst>
            </p:cNvPr>
            <p:cNvCxnSpPr/>
            <p:nvPr/>
          </p:nvCxnSpPr>
          <p:spPr>
            <a:xfrm>
              <a:off x="10516870" y="4709414"/>
              <a:ext cx="0" cy="96012"/>
            </a:xfrm>
            <a:prstGeom prst="line">
              <a:avLst/>
            </a:prstGeom>
            <a:ln w="9525">
              <a:solidFill>
                <a:srgbClr val="BACD9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Line_368">
              <a:extLst>
                <a:ext uri="{FF2B5EF4-FFF2-40B4-BE49-F238E27FC236}">
                  <a16:creationId xmlns:a16="http://schemas.microsoft.com/office/drawing/2014/main" id="{EE1D5A66-A0B9-6153-B1F5-A6507464B22C}"/>
                </a:ext>
              </a:extLst>
            </p:cNvPr>
            <p:cNvCxnSpPr/>
            <p:nvPr/>
          </p:nvCxnSpPr>
          <p:spPr>
            <a:xfrm>
              <a:off x="10619740" y="4709414"/>
              <a:ext cx="0" cy="96012"/>
            </a:xfrm>
            <a:prstGeom prst="line">
              <a:avLst/>
            </a:prstGeom>
            <a:ln w="9525">
              <a:solidFill>
                <a:srgbClr val="BACD9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Line_369">
              <a:extLst>
                <a:ext uri="{FF2B5EF4-FFF2-40B4-BE49-F238E27FC236}">
                  <a16:creationId xmlns:a16="http://schemas.microsoft.com/office/drawing/2014/main" id="{D3DE7002-E6C9-6BA3-6A2B-D0E900D3D278}"/>
                </a:ext>
              </a:extLst>
            </p:cNvPr>
            <p:cNvCxnSpPr/>
            <p:nvPr/>
          </p:nvCxnSpPr>
          <p:spPr>
            <a:xfrm flipV="1">
              <a:off x="8541766" y="5278628"/>
              <a:ext cx="0" cy="438912"/>
            </a:xfrm>
            <a:prstGeom prst="line">
              <a:avLst/>
            </a:prstGeom>
            <a:ln w="20574">
              <a:solidFill>
                <a:srgbClr val="BACD9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Vector_370">
              <a:extLst>
                <a:ext uri="{FF2B5EF4-FFF2-40B4-BE49-F238E27FC236}">
                  <a16:creationId xmlns:a16="http://schemas.microsoft.com/office/drawing/2014/main" id="{C5014FE0-C636-2333-78E9-F6E9D61EF6D3}"/>
                </a:ext>
              </a:extLst>
            </p:cNvPr>
            <p:cNvSpPr/>
            <p:nvPr/>
          </p:nvSpPr>
          <p:spPr>
            <a:xfrm>
              <a:off x="8377174" y="5079746"/>
              <a:ext cx="274320" cy="370332"/>
            </a:xfrm>
            <a:prstGeom prst="ellipse">
              <a:avLst/>
            </a:prstGeom>
            <a:solidFill>
              <a:srgbClr val="BACD91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Vector_371">
              <a:extLst>
                <a:ext uri="{FF2B5EF4-FFF2-40B4-BE49-F238E27FC236}">
                  <a16:creationId xmlns:a16="http://schemas.microsoft.com/office/drawing/2014/main" id="{8CD69097-5BC6-2D2C-71C1-AF56F0CE9903}"/>
                </a:ext>
              </a:extLst>
            </p:cNvPr>
            <p:cNvSpPr/>
            <p:nvPr/>
          </p:nvSpPr>
          <p:spPr>
            <a:xfrm>
              <a:off x="8480044" y="5196332"/>
              <a:ext cx="267462" cy="294894"/>
            </a:xfrm>
            <a:prstGeom prst="ellipse">
              <a:avLst/>
            </a:prstGeom>
            <a:solidFill>
              <a:srgbClr val="BACD91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4" name="Line_372">
              <a:extLst>
                <a:ext uri="{FF2B5EF4-FFF2-40B4-BE49-F238E27FC236}">
                  <a16:creationId xmlns:a16="http://schemas.microsoft.com/office/drawing/2014/main" id="{D4CF79AE-EE54-5D75-30DD-C5AAA7B3FB2B}"/>
                </a:ext>
              </a:extLst>
            </p:cNvPr>
            <p:cNvCxnSpPr/>
            <p:nvPr/>
          </p:nvCxnSpPr>
          <p:spPr>
            <a:xfrm flipV="1">
              <a:off x="10983214" y="5357632"/>
              <a:ext cx="0" cy="359908"/>
            </a:xfrm>
            <a:prstGeom prst="line">
              <a:avLst/>
            </a:prstGeom>
            <a:ln w="16871">
              <a:solidFill>
                <a:srgbClr val="BACD9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Vector_373">
              <a:extLst>
                <a:ext uri="{FF2B5EF4-FFF2-40B4-BE49-F238E27FC236}">
                  <a16:creationId xmlns:a16="http://schemas.microsoft.com/office/drawing/2014/main" id="{AAE7D4DD-ACA0-A0BF-0082-8E4FC0EEE130}"/>
                </a:ext>
              </a:extLst>
            </p:cNvPr>
            <p:cNvSpPr/>
            <p:nvPr/>
          </p:nvSpPr>
          <p:spPr>
            <a:xfrm>
              <a:off x="10848249" y="5194549"/>
              <a:ext cx="224942" cy="303672"/>
            </a:xfrm>
            <a:prstGeom prst="ellipse">
              <a:avLst/>
            </a:prstGeom>
            <a:solidFill>
              <a:srgbClr val="BACD91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Vector_374">
              <a:extLst>
                <a:ext uri="{FF2B5EF4-FFF2-40B4-BE49-F238E27FC236}">
                  <a16:creationId xmlns:a16="http://schemas.microsoft.com/office/drawing/2014/main" id="{CCE568E2-1409-CF42-DA9A-21CAD88C20BF}"/>
                </a:ext>
              </a:extLst>
            </p:cNvPr>
            <p:cNvSpPr/>
            <p:nvPr/>
          </p:nvSpPr>
          <p:spPr>
            <a:xfrm>
              <a:off x="10932602" y="5290150"/>
              <a:ext cx="219319" cy="241813"/>
            </a:xfrm>
            <a:prstGeom prst="ellipse">
              <a:avLst/>
            </a:prstGeom>
            <a:solidFill>
              <a:srgbClr val="BACD91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7" name="Line_375">
              <a:extLst>
                <a:ext uri="{FF2B5EF4-FFF2-40B4-BE49-F238E27FC236}">
                  <a16:creationId xmlns:a16="http://schemas.microsoft.com/office/drawing/2014/main" id="{D885C763-798A-00AB-B30D-79B6C2F5A23D}"/>
                </a:ext>
              </a:extLst>
            </p:cNvPr>
            <p:cNvCxnSpPr/>
            <p:nvPr/>
          </p:nvCxnSpPr>
          <p:spPr>
            <a:xfrm flipV="1">
              <a:off x="9405874" y="5476138"/>
              <a:ext cx="0" cy="241402"/>
            </a:xfrm>
            <a:prstGeom prst="line">
              <a:avLst/>
            </a:prstGeom>
            <a:ln w="11316">
              <a:solidFill>
                <a:srgbClr val="BACD9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Vector_376">
              <a:extLst>
                <a:ext uri="{FF2B5EF4-FFF2-40B4-BE49-F238E27FC236}">
                  <a16:creationId xmlns:a16="http://schemas.microsoft.com/office/drawing/2014/main" id="{DD4BAA14-F270-66E4-CD5A-3899C2312355}"/>
                </a:ext>
              </a:extLst>
            </p:cNvPr>
            <p:cNvSpPr/>
            <p:nvPr/>
          </p:nvSpPr>
          <p:spPr>
            <a:xfrm>
              <a:off x="9315348" y="5366753"/>
              <a:ext cx="150877" cy="203683"/>
            </a:xfrm>
            <a:prstGeom prst="ellipse">
              <a:avLst/>
            </a:prstGeom>
            <a:solidFill>
              <a:srgbClr val="BACD91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Vector_377">
              <a:extLst>
                <a:ext uri="{FF2B5EF4-FFF2-40B4-BE49-F238E27FC236}">
                  <a16:creationId xmlns:a16="http://schemas.microsoft.com/office/drawing/2014/main" id="{609DACC3-F981-20C4-6E0A-6CB504BDE366}"/>
                </a:ext>
              </a:extLst>
            </p:cNvPr>
            <p:cNvSpPr/>
            <p:nvPr/>
          </p:nvSpPr>
          <p:spPr>
            <a:xfrm>
              <a:off x="9371927" y="5430875"/>
              <a:ext cx="147104" cy="162192"/>
            </a:xfrm>
            <a:prstGeom prst="ellipse">
              <a:avLst/>
            </a:prstGeom>
            <a:solidFill>
              <a:srgbClr val="BACD91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0" name="Line_378">
              <a:extLst>
                <a:ext uri="{FF2B5EF4-FFF2-40B4-BE49-F238E27FC236}">
                  <a16:creationId xmlns:a16="http://schemas.microsoft.com/office/drawing/2014/main" id="{EB44623E-C151-2DB9-8B0D-FCC0A4E3898B}"/>
                </a:ext>
              </a:extLst>
            </p:cNvPr>
            <p:cNvCxnSpPr/>
            <p:nvPr/>
          </p:nvCxnSpPr>
          <p:spPr>
            <a:xfrm>
              <a:off x="8342884" y="5724398"/>
              <a:ext cx="2859786" cy="0"/>
            </a:xfrm>
            <a:prstGeom prst="line">
              <a:avLst/>
            </a:prstGeom>
            <a:ln w="13716">
              <a:solidFill>
                <a:srgbClr val="AFC18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7B91EA72-94B7-DA45-2CA1-3547B834971B}"/>
              </a:ext>
            </a:extLst>
          </p:cNvPr>
          <p:cNvGrpSpPr/>
          <p:nvPr/>
        </p:nvGrpSpPr>
        <p:grpSpPr>
          <a:xfrm>
            <a:off x="9907778" y="626645"/>
            <a:ext cx="1569974" cy="1464805"/>
            <a:chOff x="8658860" y="873760"/>
            <a:chExt cx="2621280" cy="2445687"/>
          </a:xfrm>
        </p:grpSpPr>
        <p:sp>
          <p:nvSpPr>
            <p:cNvPr id="74" name="Vector_11">
              <a:extLst>
                <a:ext uri="{FF2B5EF4-FFF2-40B4-BE49-F238E27FC236}">
                  <a16:creationId xmlns:a16="http://schemas.microsoft.com/office/drawing/2014/main" id="{E9C25596-051C-9CE6-A9FA-C215508D03FD}"/>
                </a:ext>
              </a:extLst>
            </p:cNvPr>
            <p:cNvSpPr/>
            <p:nvPr/>
          </p:nvSpPr>
          <p:spPr>
            <a:xfrm>
              <a:off x="8933180" y="1148080"/>
              <a:ext cx="2072640" cy="2072640"/>
            </a:xfrm>
            <a:prstGeom prst="ellipse">
              <a:avLst/>
            </a:prstGeom>
            <a:solidFill>
              <a:srgbClr val="244E4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Vector_12">
              <a:extLst>
                <a:ext uri="{FF2B5EF4-FFF2-40B4-BE49-F238E27FC236}">
                  <a16:creationId xmlns:a16="http://schemas.microsoft.com/office/drawing/2014/main" id="{65BDD440-6BAF-54D7-9F44-D03197264448}"/>
                </a:ext>
              </a:extLst>
            </p:cNvPr>
            <p:cNvSpPr/>
            <p:nvPr/>
          </p:nvSpPr>
          <p:spPr>
            <a:xfrm>
              <a:off x="9207500" y="1422400"/>
              <a:ext cx="1524000" cy="1524000"/>
            </a:xfrm>
            <a:prstGeom prst="ellipse">
              <a:avLst/>
            </a:prstGeom>
            <a:solidFill>
              <a:srgbClr val="F2C65D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6" name="Line_13">
              <a:extLst>
                <a:ext uri="{FF2B5EF4-FFF2-40B4-BE49-F238E27FC236}">
                  <a16:creationId xmlns:a16="http://schemas.microsoft.com/office/drawing/2014/main" id="{8782284D-6DBE-F337-713D-08FCC22C47B1}"/>
                </a:ext>
              </a:extLst>
            </p:cNvPr>
            <p:cNvCxnSpPr/>
            <p:nvPr/>
          </p:nvCxnSpPr>
          <p:spPr>
            <a:xfrm>
              <a:off x="11135360" y="2184400"/>
              <a:ext cx="144780" cy="0"/>
            </a:xfrm>
            <a:prstGeom prst="line">
              <a:avLst/>
            </a:prstGeom>
            <a:ln w="22860">
              <a:solidFill>
                <a:srgbClr val="F2C65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Line_14">
              <a:extLst>
                <a:ext uri="{FF2B5EF4-FFF2-40B4-BE49-F238E27FC236}">
                  <a16:creationId xmlns:a16="http://schemas.microsoft.com/office/drawing/2014/main" id="{B0F7DC5F-B316-A9F9-D716-7A71D4ED7777}"/>
                </a:ext>
              </a:extLst>
            </p:cNvPr>
            <p:cNvCxnSpPr/>
            <p:nvPr/>
          </p:nvCxnSpPr>
          <p:spPr>
            <a:xfrm>
              <a:off x="10979165" y="2767330"/>
              <a:ext cx="125383" cy="72390"/>
            </a:xfrm>
            <a:prstGeom prst="line">
              <a:avLst/>
            </a:prstGeom>
            <a:ln w="22860">
              <a:solidFill>
                <a:srgbClr val="F2C65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Line_15">
              <a:extLst>
                <a:ext uri="{FF2B5EF4-FFF2-40B4-BE49-F238E27FC236}">
                  <a16:creationId xmlns:a16="http://schemas.microsoft.com/office/drawing/2014/main" id="{281EA561-3A3F-8558-DE72-97344D804A0D}"/>
                </a:ext>
              </a:extLst>
            </p:cNvPr>
            <p:cNvCxnSpPr/>
            <p:nvPr/>
          </p:nvCxnSpPr>
          <p:spPr>
            <a:xfrm>
              <a:off x="10552430" y="3194064"/>
              <a:ext cx="72390" cy="125383"/>
            </a:xfrm>
            <a:prstGeom prst="line">
              <a:avLst/>
            </a:prstGeom>
            <a:ln w="22860">
              <a:solidFill>
                <a:srgbClr val="F2C65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Line_17">
              <a:extLst>
                <a:ext uri="{FF2B5EF4-FFF2-40B4-BE49-F238E27FC236}">
                  <a16:creationId xmlns:a16="http://schemas.microsoft.com/office/drawing/2014/main" id="{3AF2E8B2-B292-9A14-1268-2B23073CD73A}"/>
                </a:ext>
              </a:extLst>
            </p:cNvPr>
            <p:cNvCxnSpPr/>
            <p:nvPr/>
          </p:nvCxnSpPr>
          <p:spPr>
            <a:xfrm flipH="1">
              <a:off x="9314180" y="3194064"/>
              <a:ext cx="72390" cy="125383"/>
            </a:xfrm>
            <a:prstGeom prst="line">
              <a:avLst/>
            </a:prstGeom>
            <a:ln w="22860">
              <a:solidFill>
                <a:srgbClr val="F2C65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Line_18">
              <a:extLst>
                <a:ext uri="{FF2B5EF4-FFF2-40B4-BE49-F238E27FC236}">
                  <a16:creationId xmlns:a16="http://schemas.microsoft.com/office/drawing/2014/main" id="{46E66029-6C1A-680E-892F-6A840722454B}"/>
                </a:ext>
              </a:extLst>
            </p:cNvPr>
            <p:cNvCxnSpPr/>
            <p:nvPr/>
          </p:nvCxnSpPr>
          <p:spPr>
            <a:xfrm flipH="1">
              <a:off x="8834452" y="2767330"/>
              <a:ext cx="125383" cy="72390"/>
            </a:xfrm>
            <a:prstGeom prst="line">
              <a:avLst/>
            </a:prstGeom>
            <a:ln w="22860">
              <a:solidFill>
                <a:srgbClr val="F2C65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Line_19">
              <a:extLst>
                <a:ext uri="{FF2B5EF4-FFF2-40B4-BE49-F238E27FC236}">
                  <a16:creationId xmlns:a16="http://schemas.microsoft.com/office/drawing/2014/main" id="{E655A591-0CAF-BB0A-F7EA-8C219AC2B472}"/>
                </a:ext>
              </a:extLst>
            </p:cNvPr>
            <p:cNvCxnSpPr/>
            <p:nvPr/>
          </p:nvCxnSpPr>
          <p:spPr>
            <a:xfrm flipH="1">
              <a:off x="8658860" y="2184400"/>
              <a:ext cx="144780" cy="0"/>
            </a:xfrm>
            <a:prstGeom prst="line">
              <a:avLst/>
            </a:prstGeom>
            <a:ln w="22860">
              <a:solidFill>
                <a:srgbClr val="F2C65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Line_20">
              <a:extLst>
                <a:ext uri="{FF2B5EF4-FFF2-40B4-BE49-F238E27FC236}">
                  <a16:creationId xmlns:a16="http://schemas.microsoft.com/office/drawing/2014/main" id="{9235770F-F2F6-2D8E-1ACD-8CBA8DD25C74}"/>
                </a:ext>
              </a:extLst>
            </p:cNvPr>
            <p:cNvCxnSpPr/>
            <p:nvPr/>
          </p:nvCxnSpPr>
          <p:spPr>
            <a:xfrm flipH="1" flipV="1">
              <a:off x="8834452" y="1529080"/>
              <a:ext cx="125383" cy="72390"/>
            </a:xfrm>
            <a:prstGeom prst="line">
              <a:avLst/>
            </a:prstGeom>
            <a:ln w="22860">
              <a:solidFill>
                <a:srgbClr val="F2C65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Line_21">
              <a:extLst>
                <a:ext uri="{FF2B5EF4-FFF2-40B4-BE49-F238E27FC236}">
                  <a16:creationId xmlns:a16="http://schemas.microsoft.com/office/drawing/2014/main" id="{7654464E-FDAC-E08C-07C9-5E934804DC2B}"/>
                </a:ext>
              </a:extLst>
            </p:cNvPr>
            <p:cNvCxnSpPr/>
            <p:nvPr/>
          </p:nvCxnSpPr>
          <p:spPr>
            <a:xfrm flipH="1" flipV="1">
              <a:off x="9314180" y="1049352"/>
              <a:ext cx="72390" cy="125384"/>
            </a:xfrm>
            <a:prstGeom prst="line">
              <a:avLst/>
            </a:prstGeom>
            <a:ln w="22860">
              <a:solidFill>
                <a:srgbClr val="F2C65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Line_22">
              <a:extLst>
                <a:ext uri="{FF2B5EF4-FFF2-40B4-BE49-F238E27FC236}">
                  <a16:creationId xmlns:a16="http://schemas.microsoft.com/office/drawing/2014/main" id="{AE2B92CC-8B9B-6498-4933-DCF51C2A7318}"/>
                </a:ext>
              </a:extLst>
            </p:cNvPr>
            <p:cNvCxnSpPr/>
            <p:nvPr/>
          </p:nvCxnSpPr>
          <p:spPr>
            <a:xfrm flipV="1">
              <a:off x="9969500" y="873760"/>
              <a:ext cx="0" cy="144780"/>
            </a:xfrm>
            <a:prstGeom prst="line">
              <a:avLst/>
            </a:prstGeom>
            <a:ln w="22860">
              <a:solidFill>
                <a:srgbClr val="F2C65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Line_23">
              <a:extLst>
                <a:ext uri="{FF2B5EF4-FFF2-40B4-BE49-F238E27FC236}">
                  <a16:creationId xmlns:a16="http://schemas.microsoft.com/office/drawing/2014/main" id="{5B9B9019-A01F-C9DD-6FD9-6AC3D5BFAEEB}"/>
                </a:ext>
              </a:extLst>
            </p:cNvPr>
            <p:cNvCxnSpPr/>
            <p:nvPr/>
          </p:nvCxnSpPr>
          <p:spPr>
            <a:xfrm flipV="1">
              <a:off x="10552430" y="1049352"/>
              <a:ext cx="72390" cy="125384"/>
            </a:xfrm>
            <a:prstGeom prst="line">
              <a:avLst/>
            </a:prstGeom>
            <a:ln w="22860">
              <a:solidFill>
                <a:srgbClr val="F2C65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Line_24">
              <a:extLst>
                <a:ext uri="{FF2B5EF4-FFF2-40B4-BE49-F238E27FC236}">
                  <a16:creationId xmlns:a16="http://schemas.microsoft.com/office/drawing/2014/main" id="{211BB198-074C-9912-929D-1B47DAC3BDBC}"/>
                </a:ext>
              </a:extLst>
            </p:cNvPr>
            <p:cNvCxnSpPr/>
            <p:nvPr/>
          </p:nvCxnSpPr>
          <p:spPr>
            <a:xfrm flipV="1">
              <a:off x="10979165" y="1529080"/>
              <a:ext cx="125383" cy="72390"/>
            </a:xfrm>
            <a:prstGeom prst="line">
              <a:avLst/>
            </a:prstGeom>
            <a:ln w="22860">
              <a:solidFill>
                <a:srgbClr val="F2C65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92942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507</TotalTime>
  <Words>1409</Words>
  <Application>Microsoft Office PowerPoint</Application>
  <PresentationFormat>Widescreen</PresentationFormat>
  <Paragraphs>153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Roboto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OptiMesh — Красна поляна</dc:title>
  <dc:subject>7-минутна презентация за интелигентно управление на енергията</dc:subject>
  <dc:creator>Отбор Красна поляна</dc:creator>
  <cp:keywords>OptiMesh, екология, ESP32, Raspberry Pi, Диспечер</cp:keywords>
  <cp:lastModifiedBy>Yordan Krastev</cp:lastModifiedBy>
  <cp:revision>35</cp:revision>
  <dcterms:created xsi:type="dcterms:W3CDTF">2026-10-03T13:59:38Z</dcterms:created>
  <dcterms:modified xsi:type="dcterms:W3CDTF">2026-10-04T08:53:20Z</dcterms:modified>
</cp:coreProperties>
</file>